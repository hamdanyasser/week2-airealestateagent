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PRICING INTELLIGENCE   |   VOL. 01   |   ISSUE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698480" cy="14000"/>
          </a:xfrm>
          <a:prstGeom prst="rect">
            <a:avLst/>
          </a:prstGeom>
          <a:solidFill>
            <a:srgbClr val="E2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5029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 spc="400">
                <a:solidFill>
                  <a:srgbClr val="B0843B"/>
                </a:solidFill>
                <a:latin typeface="Calibri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82880"/>
            <a:ext cx="9144000" cy="9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0" b="0" i="0">
                <a:solidFill>
                  <a:srgbClr val="E7D7B2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600">
                <a:solidFill>
                  <a:srgbClr val="B0843B"/>
                </a:solidFill>
                <a:latin typeface="Calibri"/>
              </a:rPr>
              <a:t>A  F E A T U R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9601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0" i="0">
                <a:solidFill>
                  <a:srgbClr val="0B1F3A"/>
                </a:solidFill>
                <a:latin typeface="Georgia"/>
              </a:rPr>
              <a:t>Real Estate</a:t>
            </a:r>
          </a:p>
          <a:p>
            <a:pPr algn="l">
              <a:lnSpc>
                <a:spcPct val="95000"/>
              </a:lnSpc>
            </a:pPr>
            <a:r>
              <a:rPr sz="9600" b="0" i="0">
                <a:solidFill>
                  <a:srgbClr val="0B1F3A"/>
                </a:solidFill>
                <a:latin typeface="Georgia"/>
              </a:rPr>
              <a:t>Pricing</a:t>
            </a:r>
          </a:p>
          <a:p>
            <a:pPr algn="l">
              <a:lnSpc>
                <a:spcPct val="95000"/>
              </a:lnSpc>
            </a:pPr>
            <a:r>
              <a:rPr sz="9600" b="0" i="0">
                <a:solidFill>
                  <a:srgbClr val="0B1F3A"/>
                </a:solidFill>
                <a:latin typeface="Georgia"/>
              </a:rPr>
              <a:t>Intelligence.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74920"/>
            <a:ext cx="1371600" cy="18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121823"/>
                </a:solidFill>
                <a:latin typeface="Georgia"/>
              </a:rPr>
              <a:t>An AI-native platform that turns a sentence into</a:t>
            </a:r>
          </a:p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121823"/>
                </a:solidFill>
                <a:latin typeface="Georgia"/>
              </a:rPr>
              <a:t>a defensible property valuation — with the reasoning attached.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72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400">
                <a:solidFill>
                  <a:srgbClr val="7A8591"/>
                </a:solidFill>
                <a:latin typeface="Calibri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0B1F3A"/>
                </a:solidFill>
                <a:latin typeface="Georgia"/>
              </a:rPr>
              <a:t>Hanan Aref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5577840"/>
            <a:ext cx="1645920" cy="45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5760720"/>
            <a:ext cx="2377440" cy="45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5943600"/>
            <a:ext cx="1097280" cy="45000"/>
          </a:xfrm>
          <a:prstGeom prst="rect">
            <a:avLst/>
          </a:prstGeom>
          <a:solidFill>
            <a:srgbClr val="E7D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6446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400">
                <a:solidFill>
                  <a:srgbClr val="7A8591"/>
                </a:solidFill>
                <a:latin typeface="Calibri"/>
              </a:rPr>
              <a:t>FEATURED   |   AI + ML + LANGUAGE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I.  THE FRICTION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B0843B"/>
                </a:solidFill>
                <a:latin typeface="Georgia"/>
              </a:rPr>
              <a:t>— 02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Hanan Aref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9144000" cy="9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0" b="0" i="0">
                <a:solidFill>
                  <a:srgbClr val="EDE4D2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A STORY EVERY BUYER KNOWS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8229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0B1F3A"/>
                </a:solidFill>
                <a:latin typeface="Georgia"/>
              </a:rPr>
              <a:t>A simple question</a:t>
            </a:r>
          </a:p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0B1F3A"/>
                </a:solidFill>
                <a:latin typeface="Georgia"/>
              </a:rPr>
              <a:t>with a complicated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6052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56692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1">
                <a:solidFill>
                  <a:srgbClr val="121823"/>
                </a:solidFill>
                <a:latin typeface="Georgia"/>
              </a:rPr>
              <a:t>A buyer sees a home and asks what it is worth.</a:t>
            </a:r>
          </a:p>
          <a:p>
            <a:pPr algn="l">
              <a:lnSpc>
                <a:spcPct val="150000"/>
              </a:lnSpc>
            </a:pPr>
            <a:r>
              <a:rPr sz="1400" b="0" i="1">
                <a:solidFill>
                  <a:srgbClr val="121823"/>
                </a:solidFill>
                <a:latin typeface="Georgia"/>
              </a:rPr>
              <a:t>What should feel like a conversation becomes a</a:t>
            </a:r>
          </a:p>
          <a:p>
            <a:pPr algn="l">
              <a:lnSpc>
                <a:spcPct val="150000"/>
              </a:lnSpc>
            </a:pPr>
            <a:r>
              <a:rPr sz="1400" b="0" i="1">
                <a:solidFill>
                  <a:srgbClr val="121823"/>
                </a:solidFill>
                <a:latin typeface="Georgia"/>
              </a:rPr>
              <a:t>forty-field intake form, a spreadsheet, or a call</a:t>
            </a:r>
          </a:p>
          <a:p>
            <a:pPr algn="l">
              <a:lnSpc>
                <a:spcPct val="150000"/>
              </a:lnSpc>
            </a:pPr>
            <a:r>
              <a:rPr sz="1400" b="0" i="1">
                <a:solidFill>
                  <a:srgbClr val="121823"/>
                </a:solidFill>
                <a:latin typeface="Georgia"/>
              </a:rPr>
              <a:t>to someone who may or may not be available.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0" y="2395728"/>
            <a:ext cx="164592" cy="164592"/>
          </a:xfrm>
          <a:prstGeom prst="ellipse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286000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Manual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65176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A8591"/>
                </a:solidFill>
                <a:latin typeface="Calibri"/>
              </a:rPr>
              <a:t>Spreadsheets and dated comps.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0" y="3355848"/>
            <a:ext cx="164592" cy="164592"/>
          </a:xfrm>
          <a:prstGeom prst="ellipse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3246120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Subjective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36118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A8591"/>
                </a:solidFill>
                <a:latin typeface="Calibri"/>
              </a:rPr>
              <a:t>Tied to individual experience.</a:t>
            </a:r>
          </a:p>
        </p:txBody>
      </p:sp>
      <p:sp>
        <p:nvSpPr>
          <p:cNvPr id="19" name="Oval 18"/>
          <p:cNvSpPr/>
          <p:nvPr/>
        </p:nvSpPr>
        <p:spPr>
          <a:xfrm>
            <a:off x="8595360" y="4315968"/>
            <a:ext cx="164592" cy="164592"/>
          </a:xfrm>
          <a:prstGeom prst="ellipse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4206240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Incomplete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57200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A8591"/>
                </a:solidFill>
                <a:latin typeface="Calibri"/>
              </a:rPr>
              <a:t>Buyers rarely know every field.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0" y="5276088"/>
            <a:ext cx="164592" cy="164592"/>
          </a:xfrm>
          <a:prstGeom prst="ellipse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5166360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Slow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55321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A8591"/>
                </a:solidFill>
                <a:latin typeface="Calibri"/>
              </a:rPr>
              <a:t>Answers take hours, not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II. 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B0843B"/>
                </a:solidFill>
                <a:latin typeface="Georgia"/>
              </a:rPr>
              <a:t>— 03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Hanan Aref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011680"/>
            <a:ext cx="9144000" cy="9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0" b="0" i="0">
                <a:solidFill>
                  <a:srgbClr val="EDE4D2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A DIFFERENT WAY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1">
                <a:solidFill>
                  <a:srgbClr val="0B1F3A"/>
                </a:solidFill>
                <a:latin typeface="Georgia"/>
              </a:rPr>
              <a:t>What if she could just say it?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777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1">
                <a:solidFill>
                  <a:srgbClr val="121823"/>
                </a:solidFill>
                <a:latin typeface="Georgia"/>
              </a:rPr>
              <a:t>“A 3-bed ranch in OldTown,</a:t>
            </a:r>
          </a:p>
          <a:p>
            <a:pPr algn="l">
              <a:lnSpc>
                <a:spcPct val="125000"/>
              </a:lnSpc>
            </a:pPr>
            <a:r>
              <a:rPr sz="2800" b="0" i="1">
                <a:solidFill>
                  <a:srgbClr val="121823"/>
                </a:solidFill>
                <a:latin typeface="Georgia"/>
              </a:rPr>
              <a:t>1,400 square feet, in good shape.”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7A8591"/>
                </a:solidFill>
                <a:latin typeface="Calibri"/>
              </a:rPr>
              <a:t>One sentence becomes the starting point.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7A8591"/>
                </a:solidFill>
                <a:latin typeface="Calibri"/>
              </a:rPr>
              <a:t>No spreadsheet. No dropdown maze. No technical language.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3383280"/>
            <a:ext cx="16000" cy="2560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33832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THE PREMISE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79476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0B1F3A"/>
                </a:solidFill>
                <a:latin typeface="Georgia"/>
              </a:rPr>
              <a:t>People already know how to</a:t>
            </a:r>
          </a:p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0B1F3A"/>
                </a:solidFill>
                <a:latin typeface="Georgia"/>
              </a:rPr>
              <a:t>describe a home.</a:t>
            </a:r>
          </a:p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0B1F3A"/>
                </a:solidFill>
                <a:latin typeface="Georgi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0B1F3A"/>
                </a:solidFill>
                <a:latin typeface="Georgia"/>
              </a:rPr>
              <a:t>The platform meets them in</a:t>
            </a:r>
          </a:p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0B1F3A"/>
                </a:solidFill>
                <a:latin typeface="Georgia"/>
              </a:rPr>
              <a:t>that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III. 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B0843B"/>
                </a:solidFill>
                <a:latin typeface="Georgia"/>
              </a:rPr>
              <a:t>— 04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Hanan Aref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WHAT THE PLATFORM DELIVERS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0B1F3A"/>
                </a:solidFill>
                <a:latin typeface="Georgia"/>
              </a:rPr>
              <a:t>Five capabilities, one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B0843B"/>
                </a:solidFill>
                <a:latin typeface="Georgia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77640"/>
            <a:ext cx="365760" cy="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Automated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Language model parses any description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into a validated feature 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2918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B0843B"/>
                </a:solidFill>
                <a:latin typeface="Georgia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3977640"/>
            <a:ext cx="365760" cy="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4160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Calibrated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461772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Trained ML pipeline returns a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market-referenced estimate.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2918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B0843B"/>
                </a:solidFill>
                <a:latin typeface="Georgia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3977640"/>
            <a:ext cx="365760" cy="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4160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Explainable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61772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Every number is paired with a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business-ready rationale.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32918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B0843B"/>
                </a:solidFill>
                <a:latin typeface="Georgia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80" y="3977640"/>
            <a:ext cx="365760" cy="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4160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Guided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461772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A narrative UI walks the user through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each stage of the pipeline.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2918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B0843B"/>
                </a:solidFill>
                <a:latin typeface="Georgia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3977640"/>
            <a:ext cx="365760" cy="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41605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API-first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4617720"/>
            <a:ext cx="2011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FastAPI surface integrates cleanly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into any listing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IV.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B0843B"/>
                </a:solidFill>
                <a:latin typeface="Georgia"/>
              </a:rPr>
              <a:t>— 05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Hanan Aref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END-TO-END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0B1F3A"/>
                </a:solidFill>
                <a:latin typeface="Georgia"/>
              </a:rPr>
              <a:t>Language in, intelligence 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1920240" cy="12801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3749040"/>
            <a:ext cx="274320" cy="10000"/>
          </a:xfrm>
          <a:prstGeom prst="rect">
            <a:avLst/>
          </a:prstGeom>
          <a:solidFill>
            <a:srgbClr val="D2B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6F0E3"/>
                </a:solidFill>
                <a:latin typeface="Georgia"/>
              </a:rPr>
              <a:t>User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976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00">
                <a:solidFill>
                  <a:srgbClr val="D2B274"/>
                </a:solidFill>
                <a:latin typeface="Calibri"/>
              </a:rPr>
              <a:t>FREE-TEXT DESCRIPTION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91760" y="4041648"/>
            <a:ext cx="194320" cy="146304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0" y="3474720"/>
            <a:ext cx="1920240" cy="128016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4680" y="3749040"/>
            <a:ext cx="274320" cy="10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8862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6F0E3"/>
                </a:solidFill>
                <a:latin typeface="Georgia"/>
              </a:rPr>
              <a:t>Stage 1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2976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00">
                <a:solidFill>
                  <a:srgbClr val="F6F0E3"/>
                </a:solidFill>
                <a:latin typeface="Calibri"/>
              </a:rPr>
              <a:t>FEATURE EXTRACTION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86320" y="4041648"/>
            <a:ext cx="194320" cy="146304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0" y="3474720"/>
            <a:ext cx="1920240" cy="1280160"/>
          </a:xfrm>
          <a:prstGeom prst="rect">
            <a:avLst/>
          </a:prstGeom>
          <a:solidFill>
            <a:srgbClr val="17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240" y="3749040"/>
            <a:ext cx="274320" cy="10000"/>
          </a:xfrm>
          <a:prstGeom prst="rect">
            <a:avLst/>
          </a:prstGeom>
          <a:solidFill>
            <a:srgbClr val="D2B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8862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6F0E3"/>
                </a:solidFill>
                <a:latin typeface="Georgia"/>
              </a:rPr>
              <a:t>ML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2976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00">
                <a:solidFill>
                  <a:srgbClr val="D2B274"/>
                </a:solidFill>
                <a:latin typeface="Calibri"/>
              </a:rPr>
              <a:t>PRICE PREDICTION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80880" y="4041648"/>
            <a:ext cx="194320" cy="146304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3474720"/>
            <a:ext cx="1920240" cy="128016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3800" y="3749040"/>
            <a:ext cx="274320" cy="10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8862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6F0E3"/>
                </a:solidFill>
                <a:latin typeface="Georgia"/>
              </a:rPr>
              <a:t>Stage 2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42976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00">
                <a:solidFill>
                  <a:srgbClr val="F6F0E3"/>
                </a:solidFill>
                <a:latin typeface="Calibri"/>
              </a:rPr>
              <a:t>INTERPRETATION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75440" y="4041648"/>
            <a:ext cx="194320" cy="146304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3474720"/>
            <a:ext cx="1920240" cy="12801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38360" y="3749040"/>
            <a:ext cx="274320" cy="10000"/>
          </a:xfrm>
          <a:prstGeom prst="rect">
            <a:avLst/>
          </a:prstGeom>
          <a:solidFill>
            <a:srgbClr val="D2B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60" y="38862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6F0E3"/>
                </a:solidFill>
                <a:latin typeface="Georgia"/>
              </a:rPr>
              <a:t>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429768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300">
                <a:solidFill>
                  <a:srgbClr val="D2B274"/>
                </a:solidFill>
                <a:latin typeface="Calibri"/>
              </a:rPr>
              <a:t>PRICE + RATIONALE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206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7A8591"/>
                </a:solidFill>
                <a:latin typeface="Georgia"/>
              </a:rPr>
              <a:t>A three-stage chain — two language models that bracket a machine-learning core.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669280"/>
            <a:ext cx="10698480" cy="685800"/>
          </a:xfrm>
          <a:prstGeom prst="rect">
            <a:avLst/>
          </a:prstGeom>
          <a:solidFill>
            <a:srgbClr val="FBF6EB"/>
          </a:solidFill>
          <a:ln w="635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424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400">
                <a:solidFill>
                  <a:srgbClr val="B0843B"/>
                </a:solidFill>
                <a:latin typeface="Calibri"/>
              </a:rPr>
              <a:t>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943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FastAPI 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5943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React / Vite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V. 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B0843B"/>
                </a:solidFill>
                <a:latin typeface="Georgia"/>
              </a:rPr>
              <a:t>— 06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Hanan Aref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0B1F3A"/>
                </a:solidFill>
                <a:latin typeface="Georgia"/>
              </a:rPr>
              <a:t>Proven, pragmatic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3657600" cy="146304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3657600" cy="50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B1F3A"/>
                </a:solidFill>
                <a:latin typeface="Georgia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400">
                <a:solidFill>
                  <a:srgbClr val="B0843B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Async Python framework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serving /predict and /extract.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3291840"/>
            <a:ext cx="3657600" cy="146304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3291840"/>
            <a:ext cx="3657600" cy="50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B1F3A"/>
                </a:solidFill>
                <a:latin typeface="Georgia"/>
              </a:rP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931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400">
                <a:solidFill>
                  <a:srgbClr val="B0843B"/>
                </a:solidFill>
                <a:latin typeface="Calibri"/>
              </a:rPr>
              <a:t>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1605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Pipeline with imputation,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scaling, encoding, Random Forest.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291840"/>
            <a:ext cx="3657600" cy="146304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3291840"/>
            <a:ext cx="3657600" cy="50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B1F3A"/>
                </a:solidFill>
                <a:latin typeface="Georgia"/>
              </a:rPr>
              <a:t>OpenAI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931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400">
                <a:solidFill>
                  <a:srgbClr val="B0843B"/>
                </a:solidFill>
                <a:latin typeface="Calibri"/>
              </a:rPr>
              <a:t>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1605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Two-stage chain: extraction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and plain-language reasoning.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92040"/>
            <a:ext cx="3657600" cy="146304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892040"/>
            <a:ext cx="3657600" cy="50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B1F3A"/>
                </a:solidFill>
                <a:latin typeface="Georgia"/>
              </a:rPr>
              <a:t>React + Vite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32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400">
                <a:solidFill>
                  <a:srgbClr val="B0843B"/>
                </a:solidFill>
                <a:latin typeface="Calibri"/>
              </a:rP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7607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A narrative interface that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reveals each pipeline stage.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4892040"/>
            <a:ext cx="3657600" cy="146304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4892040"/>
            <a:ext cx="3657600" cy="50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B1F3A"/>
                </a:solidFill>
                <a:latin typeface="Georgia"/>
              </a:rPr>
              <a:t>Docker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532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400">
                <a:solidFill>
                  <a:srgbClr val="B0843B"/>
                </a:solidFill>
                <a:latin typeface="Calibri"/>
              </a:rPr>
              <a:t>PACKAGING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7607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Repeatable backend and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frontend images.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892040"/>
            <a:ext cx="3657600" cy="146304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4892040"/>
            <a:ext cx="3657600" cy="50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0B1F3A"/>
                </a:solidFill>
                <a:latin typeface="Georgia"/>
              </a:rPr>
              <a:t>Railway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5532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 i="0" spc="400">
                <a:solidFill>
                  <a:srgbClr val="B0843B"/>
                </a:solidFill>
                <a:latin typeface="Calibri"/>
              </a:rPr>
              <a:t>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7607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Cloud-ready blueprint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for one-click rollout.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VI. 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B0843B"/>
                </a:solidFill>
                <a:latin typeface="Georgia"/>
              </a:rPr>
              <a:t>— 07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Hanan Aref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TRAINED ON REAL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0B1F3A"/>
                </a:solidFill>
                <a:latin typeface="Georgia"/>
              </a:rPr>
              <a:t>Two thousand houses, one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108960"/>
            <a:ext cx="9144000" cy="9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0" b="0" i="0">
                <a:solidFill>
                  <a:srgbClr val="0B1F3A"/>
                </a:solidFill>
                <a:latin typeface="Georgia"/>
              </a:rPr>
              <a:t>2,051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TRAINING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7A8591"/>
                </a:solidFill>
                <a:latin typeface="Calibri"/>
              </a:rPr>
              <a:t>Ames Housing  —  Kaggle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7A8591"/>
                </a:solidFill>
                <a:latin typeface="Calibri"/>
              </a:rPr>
              <a:t>Advanced Regression Techniques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089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B0843B"/>
                </a:solidFill>
                <a:latin typeface="Georgia"/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337560"/>
            <a:ext cx="164592" cy="7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4290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12 features chosen for both predictive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signal and natural-language reach.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77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B0843B"/>
                </a:solidFill>
                <a:latin typeface="Georgia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4206240"/>
            <a:ext cx="164592" cy="7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977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297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Imputation, scaling, and one-hot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encoding inside a single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B0843B"/>
                </a:solidFill>
                <a:latin typeface="Georgia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5074920"/>
            <a:ext cx="164592" cy="7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4846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1663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70 / 15 / 15 split; models compared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on validation RMSE.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715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B0843B"/>
                </a:solidFill>
                <a:latin typeface="Georgia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5943600"/>
            <a:ext cx="164592" cy="7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5715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Serialization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60350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Winning pipeline saved as .pkl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for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VII. 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B0843B"/>
                </a:solidFill>
                <a:latin typeface="Georgia"/>
              </a:rPr>
              <a:t>— 08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Hanan Aref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HOW LANGUAGE BECOMES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0B1F3A"/>
                </a:solidFill>
                <a:latin typeface="Georgia"/>
              </a:rPr>
              <a:t>Two stages. One continuous thought.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5349240" cy="283464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B0843B"/>
                </a:solidFill>
                <a:latin typeface="Georgia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206240"/>
            <a:ext cx="320040" cy="9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389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STAGE ONE  — 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75488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B1F3A"/>
                </a:solidFill>
                <a:latin typeface="Georgia"/>
              </a:rPr>
              <a:t>From language to structure.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349240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Parses free-text into a validated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feature schema. Missing fields are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surfaced for the user before the model runs.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26480" y="4572000"/>
            <a:ext cx="182880" cy="164592"/>
          </a:xfrm>
          <a:prstGeom prst="rightArrow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5349240" cy="283464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5204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B0843B"/>
                </a:solidFill>
                <a:latin typeface="Georgia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206240"/>
            <a:ext cx="320040" cy="9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3891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STAGE TWO  —  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54880"/>
            <a:ext cx="4709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0B1F3A"/>
                </a:solidFill>
                <a:latin typeface="Georgia"/>
              </a:rPr>
              <a:t>From number to narrative.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349240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Takes the prediction plus training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statistics and returns a concise,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defensible rationale in plain English.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VIII. 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B0843B"/>
                </a:solidFill>
                <a:latin typeface="Georgia"/>
              </a:rPr>
              <a:t>— 09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Hanan Aref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HOW THE PLATFORM FEELS IN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0B1F3A"/>
                </a:solidFill>
                <a:latin typeface="Georgia"/>
              </a:rPr>
              <a:t>Five moments, under a minute.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3474720"/>
            <a:ext cx="914400" cy="914400"/>
          </a:xfrm>
          <a:prstGeom prst="ellipse">
            <a:avLst/>
          </a:prstGeom>
          <a:solidFill>
            <a:srgbClr val="F6F0E3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0">
                <a:solidFill>
                  <a:srgbClr val="B0843B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00">
                <a:solidFill>
                  <a:srgbClr val="0B1F3A"/>
                </a:solidFill>
                <a:latin typeface="Calibri"/>
              </a:rPr>
              <a:t>DESCRIBE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195681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The user writes a natural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property description.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913632"/>
            <a:ext cx="1179576" cy="8000"/>
          </a:xfrm>
          <a:prstGeom prst="rect">
            <a:avLst/>
          </a:prstGeom>
          <a:solidFill>
            <a:srgbClr val="E2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82696" y="3474720"/>
            <a:ext cx="914400" cy="914400"/>
          </a:xfrm>
          <a:prstGeom prst="ellipse">
            <a:avLst/>
          </a:prstGeom>
          <a:solidFill>
            <a:srgbClr val="F6F0E3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0">
                <a:solidFill>
                  <a:srgbClr val="B0843B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4572000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00">
                <a:solidFill>
                  <a:srgbClr val="0B1F3A"/>
                </a:solidFill>
                <a:latin typeface="Calibri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4937760"/>
            <a:ext cx="195681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Extracted features appear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for confirmation.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3913632"/>
            <a:ext cx="1179576" cy="8000"/>
          </a:xfrm>
          <a:prstGeom prst="rect">
            <a:avLst/>
          </a:prstGeom>
          <a:solidFill>
            <a:srgbClr val="E2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22392" y="3474720"/>
            <a:ext cx="914400" cy="914400"/>
          </a:xfrm>
          <a:prstGeom prst="ellipse">
            <a:avLst/>
          </a:prstGeom>
          <a:solidFill>
            <a:srgbClr val="F6F0E3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0">
                <a:solidFill>
                  <a:srgbClr val="B0843B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4572000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00">
                <a:solidFill>
                  <a:srgbClr val="0B1F3A"/>
                </a:solidFill>
                <a:latin typeface="Calibri"/>
              </a:rPr>
              <a:t>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4937760"/>
            <a:ext cx="195681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Any missing fields are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filled in by the user.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2512" y="3913632"/>
            <a:ext cx="1179576" cy="8000"/>
          </a:xfrm>
          <a:prstGeom prst="rect">
            <a:avLst/>
          </a:prstGeom>
          <a:solidFill>
            <a:srgbClr val="E2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3474720"/>
            <a:ext cx="914400" cy="914400"/>
          </a:xfrm>
          <a:prstGeom prst="ellipse">
            <a:avLst/>
          </a:prstGeom>
          <a:solidFill>
            <a:srgbClr val="F6F0E3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0">
                <a:solidFill>
                  <a:srgbClr val="B0843B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4572000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00">
                <a:solidFill>
                  <a:srgbClr val="0B1F3A"/>
                </a:solidFill>
                <a:latin typeface="Calibri"/>
              </a:rPr>
              <a:t>PREDICT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4937760"/>
            <a:ext cx="195681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The ML model returns a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calibrated estimate.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22208" y="3913632"/>
            <a:ext cx="1179576" cy="8000"/>
          </a:xfrm>
          <a:prstGeom prst="rect">
            <a:avLst/>
          </a:prstGeom>
          <a:solidFill>
            <a:srgbClr val="E2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01784" y="3474720"/>
            <a:ext cx="914400" cy="914400"/>
          </a:xfrm>
          <a:prstGeom prst="ellipse">
            <a:avLst/>
          </a:prstGeom>
          <a:solidFill>
            <a:srgbClr val="F6F0E3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0">
                <a:solidFill>
                  <a:srgbClr val="B0843B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4572000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300">
                <a:solidFill>
                  <a:srgbClr val="0B1F3A"/>
                </a:solidFill>
                <a:latin typeface="Calibri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4937760"/>
            <a:ext cx="195681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The rationale is displayed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alongside the price.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21823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500">
                <a:solidFill>
                  <a:srgbClr val="D2B274"/>
                </a:solidFill>
                <a:latin typeface="Calibri"/>
              </a:rPr>
              <a:t>IX.  THE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D2B274"/>
                </a:solidFill>
                <a:latin typeface="Georgia"/>
              </a:rPr>
              <a:t>— 10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D2B274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D2B274"/>
                </a:solidFill>
                <a:latin typeface="Calibri"/>
              </a:rPr>
              <a:t>Hanan Aref   | 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9144000" cy="9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0" b="0" i="0">
                <a:solidFill>
                  <a:srgbClr val="132844"/>
                </a:solidFill>
                <a:latin typeface="Georgia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100584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6F0E3"/>
                </a:solidFill>
                <a:latin typeface="Georgia"/>
              </a:rPr>
              <a:t>A valuation anyone</a:t>
            </a:r>
          </a:p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6F0E3"/>
                </a:solidFill>
                <a:latin typeface="Georgia"/>
              </a:rPr>
              <a:t>can trust.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0843B"/>
                </a:solidFill>
                <a:latin typeface="Georgia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00600"/>
            <a:ext cx="274320" cy="7000"/>
          </a:xfrm>
          <a:prstGeom prst="rect">
            <a:avLst/>
          </a:prstGeom>
          <a:solidFill>
            <a:srgbClr val="D2B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300">
                <a:solidFill>
                  <a:srgbClr val="F6F0E3"/>
                </a:solidFill>
                <a:latin typeface="Calibri"/>
              </a:rPr>
              <a:t>FASTER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D2B274"/>
                </a:solidFill>
                <a:latin typeface="Calibri"/>
              </a:rPr>
              <a:t>Seconds from description to price.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2976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0843B"/>
                </a:solidFill>
                <a:latin typeface="Georgia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4800600"/>
            <a:ext cx="274320" cy="7000"/>
          </a:xfrm>
          <a:prstGeom prst="rect">
            <a:avLst/>
          </a:prstGeom>
          <a:solidFill>
            <a:srgbClr val="D2B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937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300">
                <a:solidFill>
                  <a:srgbClr val="F6F0E3"/>
                </a:solidFill>
                <a:latin typeface="Calibri"/>
              </a:rPr>
              <a:t>CONSISTENT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303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D2B274"/>
                </a:solidFill>
                <a:latin typeface="Calibri"/>
              </a:rPr>
              <a:t>One model, the same evidence for every client.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976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0843B"/>
                </a:solidFill>
                <a:latin typeface="Georgia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800600"/>
            <a:ext cx="274320" cy="7000"/>
          </a:xfrm>
          <a:prstGeom prst="rect">
            <a:avLst/>
          </a:prstGeom>
          <a:solidFill>
            <a:srgbClr val="D2B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937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300">
                <a:solidFill>
                  <a:srgbClr val="F6F0E3"/>
                </a:solidFill>
                <a:latin typeface="Calibri"/>
              </a:rPr>
              <a:t>DEFENSIBLE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303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D2B274"/>
                </a:solidFill>
                <a:latin typeface="Calibri"/>
              </a:rPr>
              <a:t>Every number arrives with a rationale.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2976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0843B"/>
                </a:solidFill>
                <a:latin typeface="Georgia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4800600"/>
            <a:ext cx="274320" cy="7000"/>
          </a:xfrm>
          <a:prstGeom prst="rect">
            <a:avLst/>
          </a:prstGeom>
          <a:solidFill>
            <a:srgbClr val="D2B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49377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300">
                <a:solidFill>
                  <a:srgbClr val="F6F0E3"/>
                </a:solidFill>
                <a:latin typeface="Calibri"/>
              </a:rPr>
              <a:t>INTEGRABLE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303520"/>
            <a:ext cx="2377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D2B274"/>
                </a:solidFill>
                <a:latin typeface="Calibri"/>
              </a:rPr>
              <a:t>An API the whole platform can rely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X. 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B0843B"/>
                </a:solidFill>
                <a:latin typeface="Georgia"/>
              </a:rPr>
              <a:t>— 11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Hanan Aref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WHAT WE HAD TO GET 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0B1F3A"/>
                </a:solidFill>
                <a:latin typeface="Georgia"/>
              </a:rPr>
              <a:t>Honest trade-offs, named.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5349240" cy="155448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50000" cy="1554480"/>
          </a:xfrm>
          <a:prstGeom prst="rect">
            <a:avLst/>
          </a:prstGeom>
          <a:solidFill>
            <a:srgbClr val="B2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42900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B1F3A"/>
                </a:solidFill>
                <a:latin typeface="Georgia"/>
              </a:rPr>
              <a:t>Incomplete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40"/>
            <a:ext cx="23088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400">
                <a:solidFill>
                  <a:srgbClr val="B0843B"/>
                </a:solidFill>
                <a:latin typeface="Calibri"/>
              </a:rPr>
              <a:t>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23088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Descriptions rarely cover every field.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7580" y="3977640"/>
            <a:ext cx="23088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400">
                <a:solidFill>
                  <a:srgbClr val="B0843B"/>
                </a:solidFill>
                <a:latin typeface="Calibri"/>
              </a:rP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4206240"/>
            <a:ext cx="23088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Training-set imputation plus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user review before prediction.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200400"/>
            <a:ext cx="5349240" cy="155448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00400"/>
            <a:ext cx="50000" cy="1554480"/>
          </a:xfrm>
          <a:prstGeom prst="rect">
            <a:avLst/>
          </a:prstGeom>
          <a:solidFill>
            <a:srgbClr val="B2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42900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B1F3A"/>
                </a:solidFill>
                <a:latin typeface="Georgia"/>
              </a:rPr>
              <a:t>Accuracy vs clarity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977640"/>
            <a:ext cx="23088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400">
                <a:solidFill>
                  <a:srgbClr val="B0843B"/>
                </a:solidFill>
                <a:latin typeface="Calibri"/>
              </a:rPr>
              <a:t>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23088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Simple models are easier to defend.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3980" y="3977640"/>
            <a:ext cx="23088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400">
                <a:solidFill>
                  <a:srgbClr val="B0843B"/>
                </a:solidFill>
                <a:latin typeface="Calibri"/>
              </a:rPr>
              <a:t>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3980" y="4206240"/>
            <a:ext cx="23088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Curated features, interpretable model,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explanation attached to every number.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5349240" cy="155448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892040"/>
            <a:ext cx="50000" cy="1554480"/>
          </a:xfrm>
          <a:prstGeom prst="rect">
            <a:avLst/>
          </a:prstGeom>
          <a:solidFill>
            <a:srgbClr val="B2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12064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B1F3A"/>
                </a:solidFill>
                <a:latin typeface="Georgia"/>
              </a:rPr>
              <a:t>LLM reliability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669280"/>
            <a:ext cx="23088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400">
                <a:solidFill>
                  <a:srgbClr val="B0843B"/>
                </a:solidFill>
                <a:latin typeface="Calibri"/>
              </a:rPr>
              <a:t>CHALLENGE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897880"/>
            <a:ext cx="23088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Free-text parsing can fail.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7580" y="5669280"/>
            <a:ext cx="23088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400">
                <a:solidFill>
                  <a:srgbClr val="B0843B"/>
                </a:solidFill>
                <a:latin typeface="Calibri"/>
              </a:rPr>
              <a:t>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97580" y="5897880"/>
            <a:ext cx="23088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Strict schema validation and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graceful fallbacks on invalid output.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892040"/>
            <a:ext cx="5349240" cy="1554480"/>
          </a:xfrm>
          <a:prstGeom prst="rect">
            <a:avLst/>
          </a:prstGeom>
          <a:solidFill>
            <a:srgbClr val="FBF6EB"/>
          </a:solidFill>
          <a:ln w="7620">
            <a:solidFill>
              <a:srgbClr val="E2DC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892040"/>
            <a:ext cx="50000" cy="1554480"/>
          </a:xfrm>
          <a:prstGeom prst="rect">
            <a:avLst/>
          </a:prstGeom>
          <a:solidFill>
            <a:srgbClr val="B2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120640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0B1F3A"/>
                </a:solidFill>
                <a:latin typeface="Georgia"/>
              </a:rPr>
              <a:t>System 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669280"/>
            <a:ext cx="23088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400">
                <a:solidFill>
                  <a:srgbClr val="B0843B"/>
                </a:solidFill>
                <a:latin typeface="Calibri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897880"/>
            <a:ext cx="23088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Users have to believe the answer.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3980" y="5669280"/>
            <a:ext cx="23088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400">
                <a:solidFill>
                  <a:srgbClr val="B0843B"/>
                </a:solidFill>
                <a:latin typeface="Calibri"/>
              </a:rPr>
              <a:t>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3980" y="5897880"/>
            <a:ext cx="23088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Rationale grounded in the same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21823"/>
                </a:solidFill>
                <a:latin typeface="Calibri"/>
              </a:rPr>
              <a:t>distribution the model was trained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32004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400">
                <a:solidFill>
                  <a:srgbClr val="B0843B"/>
                </a:solidFill>
                <a:latin typeface="Calibri"/>
              </a:rPr>
              <a:t>XI. 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11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B0843B"/>
                </a:solidFill>
                <a:latin typeface="Georgia"/>
              </a:rPr>
              <a:t>— 12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Real Estate Pricing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1" i="0" spc="300">
                <a:solidFill>
                  <a:srgbClr val="7A8591"/>
                </a:solidFill>
                <a:latin typeface="Calibri"/>
              </a:rPr>
              <a:t>Hanan Aref   | 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WHERE THIS GOES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0B1F3A"/>
                </a:solidFill>
                <a:latin typeface="Georgia"/>
              </a:rPr>
              <a:t>Three horizons.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80360"/>
            <a:ext cx="109728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B0843B"/>
                </a:solidFill>
                <a:latin typeface="Georgia"/>
              </a:rPr>
              <a:t>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48640" cy="10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7A8591"/>
                </a:solidFill>
                <a:latin typeface="Calibri"/>
              </a:rPr>
              <a:t>NEAR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0B1F3A"/>
                </a:solidFill>
                <a:latin typeface="Georgia"/>
              </a:rPr>
              <a:t>v1.1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193791"/>
            <a:ext cx="109728" cy="109728"/>
          </a:xfrm>
          <a:prstGeom prst="ellipse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39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Richer neighborhood and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quality features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6062471"/>
            <a:ext cx="109728" cy="109728"/>
          </a:xfrm>
          <a:prstGeom prst="ellipse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989319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UX polish across the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review and result stages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4612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B0843B"/>
                </a:solidFill>
                <a:latin typeface="Georgia"/>
              </a:rPr>
              <a:t>II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931920"/>
            <a:ext cx="548640" cy="10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11480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7A8591"/>
                </a:solidFill>
                <a:latin typeface="Calibri"/>
              </a:rPr>
              <a:t>MID TERM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3484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0B1F3A"/>
                </a:solidFill>
                <a:latin typeface="Georgia"/>
              </a:rPr>
              <a:t>v1.5</a:t>
            </a:r>
          </a:p>
        </p:txBody>
      </p:sp>
      <p:sp>
        <p:nvSpPr>
          <p:cNvPr id="23" name="Oval 22"/>
          <p:cNvSpPr/>
          <p:nvPr/>
        </p:nvSpPr>
        <p:spPr>
          <a:xfrm>
            <a:off x="4389120" y="5193791"/>
            <a:ext cx="109728" cy="109728"/>
          </a:xfrm>
          <a:prstGeom prst="ellipse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5120639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Cloud deployment with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monitoring and logs</a:t>
            </a:r>
          </a:p>
        </p:txBody>
      </p:sp>
      <p:sp>
        <p:nvSpPr>
          <p:cNvPr id="25" name="Oval 24"/>
          <p:cNvSpPr/>
          <p:nvPr/>
        </p:nvSpPr>
        <p:spPr>
          <a:xfrm>
            <a:off x="4389120" y="6062471"/>
            <a:ext cx="109728" cy="109728"/>
          </a:xfrm>
          <a:prstGeom prst="ellipse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989319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Authentication and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multi-user workspaces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246120"/>
            <a:ext cx="3520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0" i="0">
                <a:solidFill>
                  <a:srgbClr val="B0843B"/>
                </a:solidFill>
                <a:latin typeface="Georgia"/>
              </a:rPr>
              <a:t>III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548640" cy="10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411480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400">
                <a:solidFill>
                  <a:srgbClr val="7A8591"/>
                </a:solidFill>
                <a:latin typeface="Calibri"/>
              </a:rPr>
              <a:t>LONG 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434840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0">
                <a:solidFill>
                  <a:srgbClr val="0B1F3A"/>
                </a:solidFill>
                <a:latin typeface="Georgia"/>
              </a:rPr>
              <a:t>v2.0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0" y="5193791"/>
            <a:ext cx="109728" cy="109728"/>
          </a:xfrm>
          <a:prstGeom prst="ellipse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5120639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Real-time market data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integration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0" y="6062471"/>
            <a:ext cx="109728" cy="109728"/>
          </a:xfrm>
          <a:prstGeom prst="ellipse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5989319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Retraining loop and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21823"/>
                </a:solidFill>
                <a:latin typeface="Calibri"/>
              </a:rPr>
              <a:t>drift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1188720"/>
            <a:ext cx="9144000" cy="9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0" b="0" i="0">
                <a:solidFill>
                  <a:srgbClr val="132844"/>
                </a:solidFill>
                <a:latin typeface="Georgia"/>
              </a:rPr>
              <a:t>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spc="500">
                <a:solidFill>
                  <a:srgbClr val="B0843B"/>
                </a:solidFill>
                <a:latin typeface="Calibri"/>
              </a:rPr>
              <a:t>CLOSING  |  VOL. 01  |  ISSUE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68680"/>
            <a:ext cx="10698480" cy="14000"/>
          </a:xfrm>
          <a:prstGeom prst="rect">
            <a:avLst/>
          </a:prstGeom>
          <a:solidFill>
            <a:srgbClr val="17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0" i="0">
                <a:solidFill>
                  <a:srgbClr val="B0843B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0" i="1">
                <a:solidFill>
                  <a:srgbClr val="F6F0E3"/>
                </a:solidFill>
                <a:latin typeface="Georgia"/>
              </a:rPr>
              <a:t>Turning property descriptions</a:t>
            </a:r>
          </a:p>
          <a:p>
            <a:pPr algn="l">
              <a:lnSpc>
                <a:spcPct val="105000"/>
              </a:lnSpc>
            </a:pPr>
            <a:r>
              <a:rPr sz="4600" b="0" i="1">
                <a:solidFill>
                  <a:srgbClr val="F6F0E3"/>
                </a:solidFill>
                <a:latin typeface="Georgia"/>
              </a:rPr>
              <a:t>into valuation intelligence.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937760"/>
            <a:ext cx="1371600" cy="14000"/>
          </a:xfrm>
          <a:prstGeom prst="rect">
            <a:avLst/>
          </a:prstGeom>
          <a:solidFill>
            <a:srgbClr val="B08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D2B274"/>
                </a:solidFill>
                <a:latin typeface="Georgia"/>
              </a:rPr>
              <a:t>A price with a reason should never be a luxury.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17920"/>
            <a:ext cx="10698480" cy="14000"/>
          </a:xfrm>
          <a:prstGeom prst="rect">
            <a:avLst/>
          </a:prstGeom>
          <a:solidFill>
            <a:srgbClr val="17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THANK YOU  —  QUESTIONS 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 spc="500">
                <a:solidFill>
                  <a:srgbClr val="B0843B"/>
                </a:solidFill>
                <a:latin typeface="Calibri"/>
              </a:rPr>
              <a:t>PRESENTED BY  HANAN AREF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