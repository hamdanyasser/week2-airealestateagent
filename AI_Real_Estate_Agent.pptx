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118872" cy="118872"/>
          </a:xfrm>
          <a:prstGeom prst="rect">
            <a:avLst/>
          </a:prstGeom>
          <a:solidFill>
            <a:srgbClr val="C85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420624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2F3A39"/>
                </a:solidFill>
                <a:latin typeface="Consolas"/>
              </a:rPr>
              <a:t>AIRE  ·  AI REAL ESTATE AGENT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756F"/>
                </a:solidFill>
                <a:latin typeface="Consolas"/>
              </a:rPr>
              <a:t>A SEVEN-SLIDE PRODUCT BRIEF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154680"/>
            <a:ext cx="54864" cy="1645920"/>
          </a:xfrm>
          <a:prstGeom prst="rect">
            <a:avLst/>
          </a:prstGeom>
          <a:solidFill>
            <a:srgbClr val="C85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834640"/>
            <a:ext cx="1097280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7600" b="0" i="0">
                <a:solidFill>
                  <a:srgbClr val="2F3A39"/>
                </a:solidFill>
                <a:latin typeface="Georgia"/>
              </a:rPr>
              <a:t>Price any home</a:t>
            </a:r>
          </a:p>
          <a:p>
            <a:pPr algn="l">
              <a:lnSpc>
                <a:spcPct val="102000"/>
              </a:lnSpc>
            </a:pPr>
            <a:r>
              <a:rPr sz="7600" b="0" i="0">
                <a:solidFill>
                  <a:srgbClr val="2F3A39"/>
                </a:solidFill>
                <a:latin typeface="Georgia"/>
              </a:rPr>
              <a:t>from a sentence.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507492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6B756F"/>
                </a:solidFill>
                <a:latin typeface="Segoe UI"/>
              </a:rPr>
              <a:t>A natural-language real-estate estimator, grounded in 2,000+ real Ames sales.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756F"/>
                </a:solidFill>
                <a:latin typeface="Consolas"/>
              </a:rPr>
              <a:t>SE FACTORY  ·  AIE BOOTCAMP  ·  WEEK 2  ·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118872" cy="118872"/>
          </a:xfrm>
          <a:prstGeom prst="rect">
            <a:avLst/>
          </a:prstGeom>
          <a:solidFill>
            <a:srgbClr val="C85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420624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2F3A39"/>
                </a:solidFill>
                <a:latin typeface="Consolas"/>
              </a:rPr>
              <a:t>AIRE  ·  AI REAL ESTATE AGENT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0" y="6446520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 i="0">
                <a:solidFill>
                  <a:srgbClr val="9BA19A"/>
                </a:solidFill>
                <a:latin typeface="Consolas"/>
              </a:rPr>
              <a:t>SE FACTORY  ·  AIE BOOTCAMP  ·  WEEK 2  · 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6868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756F"/>
                </a:solidFill>
                <a:latin typeface="Consolas"/>
              </a:rPr>
              <a:t>01 / 07    ·    THE PROBLEM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640080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600" b="0" i="0">
                <a:solidFill>
                  <a:srgbClr val="2F3A39"/>
                </a:solidFill>
                <a:latin typeface="Georgia"/>
              </a:rPr>
              <a:t>Pricing a home</a:t>
            </a:r>
          </a:p>
          <a:p>
            <a:pPr algn="l">
              <a:lnSpc>
                <a:spcPct val="105000"/>
              </a:lnSpc>
            </a:pPr>
            <a:r>
              <a:rPr sz="4600" b="0" i="0">
                <a:solidFill>
                  <a:srgbClr val="2F3A39"/>
                </a:solidFill>
                <a:latin typeface="Georgia"/>
              </a:rPr>
              <a:t>shouldn’t require</a:t>
            </a:r>
          </a:p>
          <a:p>
            <a:pPr algn="l">
              <a:lnSpc>
                <a:spcPct val="105000"/>
              </a:lnSpc>
            </a:pPr>
            <a:r>
              <a:rPr sz="4600" b="0" i="0">
                <a:solidFill>
                  <a:srgbClr val="2F3A39"/>
                </a:solidFill>
                <a:latin typeface="Georgia"/>
              </a:rPr>
              <a:t>a spreadsheet.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114800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2F3A39"/>
                </a:solidFill>
                <a:latin typeface="Segoe UI"/>
              </a:rPr>
              <a:t>Buyers see prices, not the logic behind them.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8640" y="4617720"/>
            <a:ext cx="6126480" cy="0"/>
          </a:xfrm>
          <a:prstGeom prst="line">
            <a:avLst/>
          </a:prstGeom>
          <a:ln w="9525">
            <a:solidFill>
              <a:srgbClr val="CFC5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48640" y="4782312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2F3A39"/>
                </a:solidFill>
                <a:latin typeface="Segoe UI"/>
              </a:rPr>
              <a:t>Agents default to instinct — which doesn’t scale.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48640" y="5285232"/>
            <a:ext cx="6126480" cy="0"/>
          </a:xfrm>
          <a:prstGeom prst="line">
            <a:avLst/>
          </a:prstGeom>
          <a:ln w="9525">
            <a:solidFill>
              <a:srgbClr val="CFC5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40" y="5449824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2F3A39"/>
                </a:solidFill>
                <a:latin typeface="Segoe UI"/>
              </a:rPr>
              <a:t>Traditional tools demand 80 structured fields before they’ll answer.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48640" y="5952744"/>
            <a:ext cx="6126480" cy="0"/>
          </a:xfrm>
          <a:prstGeom prst="line">
            <a:avLst/>
          </a:prstGeom>
          <a:ln w="9525">
            <a:solidFill>
              <a:srgbClr val="CFC5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498079" y="155448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756F"/>
                </a:solidFill>
                <a:latin typeface="Consolas"/>
              </a:rPr>
              <a:t>THE OLD WAY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498079" y="1847088"/>
            <a:ext cx="4114800" cy="0"/>
          </a:xfrm>
          <a:prstGeom prst="line">
            <a:avLst/>
          </a:prstGeom>
          <a:ln w="9525">
            <a:solidFill>
              <a:srgbClr val="CFC5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498079" y="2057400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BA19A"/>
                </a:solidFill>
                <a:latin typeface="Consolas"/>
              </a:rPr>
              <a:t>Field 01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052559" y="2075688"/>
            <a:ext cx="2468880" cy="128016"/>
          </a:xfrm>
          <a:prstGeom prst="rect">
            <a:avLst/>
          </a:prstGeom>
          <a:solidFill>
            <a:srgbClr val="EFE7DA"/>
          </a:solidFill>
          <a:ln w="6350">
            <a:solidFill>
              <a:srgbClr val="CFC5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79" y="2276856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BA19A"/>
                </a:solidFill>
                <a:latin typeface="Consolas"/>
              </a:rPr>
              <a:t>Field 02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52559" y="2295144"/>
            <a:ext cx="2468880" cy="128016"/>
          </a:xfrm>
          <a:prstGeom prst="rect">
            <a:avLst/>
          </a:prstGeom>
          <a:solidFill>
            <a:srgbClr val="EFE7DA"/>
          </a:solidFill>
          <a:ln w="6350">
            <a:solidFill>
              <a:srgbClr val="CFC5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79" y="2496312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BA19A"/>
                </a:solidFill>
                <a:latin typeface="Consolas"/>
              </a:rPr>
              <a:t>Field 03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52559" y="2514600"/>
            <a:ext cx="2468880" cy="128016"/>
          </a:xfrm>
          <a:prstGeom prst="rect">
            <a:avLst/>
          </a:prstGeom>
          <a:solidFill>
            <a:srgbClr val="EFE7DA"/>
          </a:solidFill>
          <a:ln w="6350">
            <a:solidFill>
              <a:srgbClr val="CFC5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79" y="2715768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BA19A"/>
                </a:solidFill>
                <a:latin typeface="Consolas"/>
              </a:rPr>
              <a:t>Field 04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052559" y="2734056"/>
            <a:ext cx="2468880" cy="128016"/>
          </a:xfrm>
          <a:prstGeom prst="rect">
            <a:avLst/>
          </a:prstGeom>
          <a:solidFill>
            <a:srgbClr val="EFE7DA"/>
          </a:solidFill>
          <a:ln w="6350">
            <a:solidFill>
              <a:srgbClr val="CFC5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79" y="2935224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BA19A"/>
                </a:solidFill>
                <a:latin typeface="Consolas"/>
              </a:rPr>
              <a:t>Field 05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52559" y="2953512"/>
            <a:ext cx="2468880" cy="128016"/>
          </a:xfrm>
          <a:prstGeom prst="rect">
            <a:avLst/>
          </a:prstGeom>
          <a:solidFill>
            <a:srgbClr val="EFE7DA"/>
          </a:solidFill>
          <a:ln w="6350">
            <a:solidFill>
              <a:srgbClr val="CFC5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98079" y="3154680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BA19A"/>
                </a:solidFill>
                <a:latin typeface="Consolas"/>
              </a:rPr>
              <a:t>Field 06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52559" y="3172968"/>
            <a:ext cx="2468880" cy="128016"/>
          </a:xfrm>
          <a:prstGeom prst="rect">
            <a:avLst/>
          </a:prstGeom>
          <a:solidFill>
            <a:srgbClr val="EFE7DA"/>
          </a:solidFill>
          <a:ln w="6350">
            <a:solidFill>
              <a:srgbClr val="CFC5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79" y="3374136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BA19A"/>
                </a:solidFill>
                <a:latin typeface="Consolas"/>
              </a:rPr>
              <a:t>Field 07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52559" y="3392424"/>
            <a:ext cx="2468880" cy="128016"/>
          </a:xfrm>
          <a:prstGeom prst="rect">
            <a:avLst/>
          </a:prstGeom>
          <a:solidFill>
            <a:srgbClr val="EFE7DA"/>
          </a:solidFill>
          <a:ln w="6350">
            <a:solidFill>
              <a:srgbClr val="CFC5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98079" y="3593591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BA19A"/>
                </a:solidFill>
                <a:latin typeface="Consolas"/>
              </a:rPr>
              <a:t>Field 08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052559" y="3611879"/>
            <a:ext cx="2468880" cy="128016"/>
          </a:xfrm>
          <a:prstGeom prst="rect">
            <a:avLst/>
          </a:prstGeom>
          <a:solidFill>
            <a:srgbClr val="EFE7DA"/>
          </a:solidFill>
          <a:ln w="6350">
            <a:solidFill>
              <a:srgbClr val="CFC5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498079" y="425196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C8553D"/>
                </a:solidFill>
                <a:latin typeface="Consolas"/>
              </a:rPr>
              <a:t>THE NEW WAY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7498079" y="4544568"/>
            <a:ext cx="4114800" cy="0"/>
          </a:xfrm>
          <a:prstGeom prst="line">
            <a:avLst/>
          </a:prstGeom>
          <a:ln w="12700">
            <a:solidFill>
              <a:srgbClr val="C855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ectangle 33"/>
          <p:cNvSpPr/>
          <p:nvPr/>
        </p:nvSpPr>
        <p:spPr>
          <a:xfrm>
            <a:off x="7498079" y="4754880"/>
            <a:ext cx="4114800" cy="1463040"/>
          </a:xfrm>
          <a:prstGeom prst="rect">
            <a:avLst/>
          </a:prstGeom>
          <a:solidFill>
            <a:srgbClr val="FBF7EF"/>
          </a:solidFill>
          <a:ln w="15875">
            <a:solidFill>
              <a:srgbClr val="C85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72399" y="4983480"/>
            <a:ext cx="35661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 i="1">
                <a:solidFill>
                  <a:srgbClr val="2F3A39"/>
                </a:solidFill>
                <a:latin typeface="Georgia"/>
              </a:rPr>
              <a:t>“3-bed ranch in OldTown,
1,400 sqft, good shape.”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118872" cy="118872"/>
          </a:xfrm>
          <a:prstGeom prst="rect">
            <a:avLst/>
          </a:prstGeom>
          <a:solidFill>
            <a:srgbClr val="C85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420624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2F3A39"/>
                </a:solidFill>
                <a:latin typeface="Consolas"/>
              </a:rPr>
              <a:t>AIRE  ·  AI REAL ESTATE AGENT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0" y="6446520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 i="0">
                <a:solidFill>
                  <a:srgbClr val="9BA19A"/>
                </a:solidFill>
                <a:latin typeface="Consolas"/>
              </a:rPr>
              <a:t>SE FACTORY  ·  AIE BOOTCAMP  ·  WEEK 2  · 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6868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756F"/>
                </a:solidFill>
                <a:latin typeface="Consolas"/>
              </a:rPr>
              <a:t>02 / 07    ·    THE PRODUCT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109728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0" i="0">
                <a:solidFill>
                  <a:srgbClr val="2F3A39"/>
                </a:solidFill>
                <a:latin typeface="Georgia"/>
              </a:rPr>
              <a:t>A natural-language price,</a:t>
            </a:r>
          </a:p>
          <a:p>
            <a:pPr algn="l">
              <a:lnSpc>
                <a:spcPct val="105000"/>
              </a:lnSpc>
            </a:pPr>
            <a:r>
              <a:rPr sz="4400" b="0" i="0">
                <a:solidFill>
                  <a:srgbClr val="2F3A39"/>
                </a:solidFill>
                <a:latin typeface="Georgia"/>
              </a:rPr>
              <a:t>with reasoning attached.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3794760"/>
            <a:ext cx="3483864" cy="2331720"/>
          </a:xfrm>
          <a:prstGeom prst="rect">
            <a:avLst/>
          </a:prstGeom>
          <a:solidFill>
            <a:srgbClr val="FBF7EF"/>
          </a:solidFill>
          <a:ln w="9525">
            <a:solidFill>
              <a:srgbClr val="CFC5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069080"/>
            <a:ext cx="28437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6B756F"/>
                </a:solidFill>
                <a:latin typeface="Consolas"/>
              </a:rPr>
              <a:t>01   DESCRIBE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868680.0" y="4434840"/>
            <a:ext cx="594360.0" cy="0"/>
          </a:xfrm>
          <a:prstGeom prst="line">
            <a:avLst/>
          </a:prstGeom>
          <a:ln w="15875">
            <a:solidFill>
              <a:srgbClr val="C855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868680" y="4663440"/>
            <a:ext cx="2843784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 i="1">
                <a:solidFill>
                  <a:srgbClr val="2F3A39"/>
                </a:solidFill>
                <a:latin typeface="Georgia"/>
              </a:rPr>
              <a:t>“3-bed ranch in OldTown,
1,400 sqft, good shape.”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52544" y="3794760"/>
            <a:ext cx="3483864" cy="2331720"/>
          </a:xfrm>
          <a:prstGeom prst="rect">
            <a:avLst/>
          </a:prstGeom>
          <a:solidFill>
            <a:srgbClr val="FBF7EF"/>
          </a:solidFill>
          <a:ln w="9525">
            <a:solidFill>
              <a:srgbClr val="CFC5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72584" y="4069080"/>
            <a:ext cx="28437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6B756F"/>
                </a:solidFill>
                <a:latin typeface="Consolas"/>
              </a:rPr>
              <a:t>02   PRICE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672584.0" y="4434840"/>
            <a:ext cx="594360.0" cy="0"/>
          </a:xfrm>
          <a:prstGeom prst="line">
            <a:avLst/>
          </a:prstGeom>
          <a:ln w="15875">
            <a:solidFill>
              <a:srgbClr val="C855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4672584" y="4663440"/>
            <a:ext cx="2843784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400" b="0" i="0">
                <a:solidFill>
                  <a:srgbClr val="2F3A39"/>
                </a:solidFill>
                <a:latin typeface="Consolas"/>
              </a:rPr>
              <a:t>$167,887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72584" y="4663440"/>
            <a:ext cx="5486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0" i="0">
                <a:solidFill>
                  <a:srgbClr val="C8553D"/>
                </a:solidFill>
                <a:latin typeface="Consolas"/>
              </a:rPr>
              <a:t>$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72584" y="4663440"/>
            <a:ext cx="347472" cy="82296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72584" y="4663440"/>
            <a:ext cx="5486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0" i="0">
                <a:solidFill>
                  <a:srgbClr val="C8553D"/>
                </a:solidFill>
                <a:latin typeface="Consolas"/>
              </a:rPr>
              <a:t>$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672584" y="4663440"/>
            <a:ext cx="2843784" cy="82296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72584" y="4663440"/>
            <a:ext cx="5486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0" i="0">
                <a:solidFill>
                  <a:srgbClr val="C8553D"/>
                </a:solidFill>
                <a:latin typeface="Consolas"/>
              </a:rPr>
              <a:t>$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38344" y="4663440"/>
            <a:ext cx="2569464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0" i="0">
                <a:solidFill>
                  <a:srgbClr val="2F3A39"/>
                </a:solidFill>
                <a:latin typeface="Consolas"/>
              </a:rPr>
              <a:t>167,887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72584" y="5532120"/>
            <a:ext cx="28437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6B756F"/>
                </a:solidFill>
                <a:latin typeface="Consolas"/>
              </a:rPr>
              <a:t>USD  ·  point estimate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56448" y="3794760"/>
            <a:ext cx="3483864" cy="2331720"/>
          </a:xfrm>
          <a:prstGeom prst="rect">
            <a:avLst/>
          </a:prstGeom>
          <a:solidFill>
            <a:srgbClr val="FBF7EF"/>
          </a:solidFill>
          <a:ln w="9525">
            <a:solidFill>
              <a:srgbClr val="CFC5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76488" y="4069080"/>
            <a:ext cx="28437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6B756F"/>
                </a:solidFill>
                <a:latin typeface="Consolas"/>
              </a:rPr>
              <a:t>03   REASON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476488.0" y="4434840"/>
            <a:ext cx="594360.0" cy="0"/>
          </a:xfrm>
          <a:prstGeom prst="line">
            <a:avLst/>
          </a:prstGeom>
          <a:ln w="15875">
            <a:solidFill>
              <a:srgbClr val="C855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476488" y="4663440"/>
            <a:ext cx="2843784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1">
                <a:solidFill>
                  <a:srgbClr val="2F3A39"/>
                </a:solidFill>
                <a:latin typeface="Georgia"/>
              </a:rPr>
              <a:t>Below the $160K median for this area—smaller lot, older condition.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118872" cy="118872"/>
          </a:xfrm>
          <a:prstGeom prst="rect">
            <a:avLst/>
          </a:prstGeom>
          <a:solidFill>
            <a:srgbClr val="C85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420624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2F3A39"/>
                </a:solidFill>
                <a:latin typeface="Consolas"/>
              </a:rPr>
              <a:t>AIRE  ·  AI REAL ESTATE AGENT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0" y="6446520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 i="0">
                <a:solidFill>
                  <a:srgbClr val="9BA19A"/>
                </a:solidFill>
                <a:latin typeface="Consolas"/>
              </a:rPr>
              <a:t>SE FACTORY  ·  AIE BOOTCAMP  ·  WEEK 2  · 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6868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756F"/>
                </a:solidFill>
                <a:latin typeface="Consolas"/>
              </a:rPr>
              <a:t>03 / 07    ·    SYSTEM FLOW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109728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0" i="0">
                <a:solidFill>
                  <a:srgbClr val="2F3A39"/>
                </a:solidFill>
                <a:latin typeface="Georgia"/>
              </a:rPr>
              <a:t>Three stages.</a:t>
            </a:r>
          </a:p>
          <a:p>
            <a:pPr algn="l">
              <a:lnSpc>
                <a:spcPct val="105000"/>
              </a:lnSpc>
            </a:pPr>
            <a:r>
              <a:rPr sz="4000" b="0" i="0">
                <a:solidFill>
                  <a:srgbClr val="2F3A39"/>
                </a:solidFill>
                <a:latin typeface="Georgia"/>
              </a:rPr>
              <a:t>One sentence in, one priced answer out.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960120" y="4480560"/>
            <a:ext cx="10268712" cy="0"/>
          </a:xfrm>
          <a:prstGeom prst="line">
            <a:avLst/>
          </a:prstGeom>
          <a:ln w="12700">
            <a:solidFill>
              <a:srgbClr val="CFC5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832104" y="4352544"/>
            <a:ext cx="256032" cy="256032"/>
          </a:xfrm>
          <a:prstGeom prst="ellipse">
            <a:avLst/>
          </a:prstGeom>
          <a:solidFill>
            <a:srgbClr val="F6F1E8"/>
          </a:solidFill>
          <a:ln w="15875">
            <a:solidFill>
              <a:srgbClr val="2F3A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-137160" y="3657600"/>
            <a:ext cx="21945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 i="1">
                <a:solidFill>
                  <a:srgbClr val="2F3A39"/>
                </a:solidFill>
                <a:latin typeface="Georgia"/>
              </a:rPr>
              <a:t>Sentence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-137160" y="4800600"/>
            <a:ext cx="21945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6B756F"/>
                </a:solidFill>
                <a:latin typeface="Consolas"/>
              </a:rPr>
              <a:t>free-form</a:t>
            </a:r>
          </a:p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6B756F"/>
                </a:solidFill>
                <a:latin typeface="Consolas"/>
              </a:rPr>
              <a:t>user text</a:t>
            </a:r>
          </a:p>
        </p:txBody>
      </p:sp>
      <p:sp>
        <p:nvSpPr>
          <p:cNvPr id="12" name="Oval 11"/>
          <p:cNvSpPr/>
          <p:nvPr/>
        </p:nvSpPr>
        <p:spPr>
          <a:xfrm>
            <a:off x="3392424" y="4352544"/>
            <a:ext cx="256032" cy="256032"/>
          </a:xfrm>
          <a:prstGeom prst="ellipse">
            <a:avLst/>
          </a:prstGeom>
          <a:solidFill>
            <a:srgbClr val="C85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23160" y="3657600"/>
            <a:ext cx="21945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 i="1">
                <a:solidFill>
                  <a:srgbClr val="2F3A39"/>
                </a:solidFill>
                <a:latin typeface="Georgia"/>
              </a:rPr>
              <a:t>Extraction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23160" y="4800600"/>
            <a:ext cx="21945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6B756F"/>
                </a:solidFill>
                <a:latin typeface="Consolas"/>
              </a:rPr>
              <a:t>GPT-4o-mini</a:t>
            </a:r>
          </a:p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6B756F"/>
                </a:solidFill>
                <a:latin typeface="Consolas"/>
              </a:rPr>
              <a:t>+ Pydantic</a:t>
            </a:r>
          </a:p>
        </p:txBody>
      </p:sp>
      <p:sp>
        <p:nvSpPr>
          <p:cNvPr id="15" name="Oval 14"/>
          <p:cNvSpPr/>
          <p:nvPr/>
        </p:nvSpPr>
        <p:spPr>
          <a:xfrm>
            <a:off x="5952744" y="4352544"/>
            <a:ext cx="256032" cy="256032"/>
          </a:xfrm>
          <a:prstGeom prst="ellipse">
            <a:avLst/>
          </a:prstGeom>
          <a:solidFill>
            <a:srgbClr val="C85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83480" y="3657600"/>
            <a:ext cx="21945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 i="1">
                <a:solidFill>
                  <a:srgbClr val="2F3A39"/>
                </a:solidFill>
                <a:latin typeface="Georgia"/>
              </a:rPr>
              <a:t>Prediction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83480" y="4800600"/>
            <a:ext cx="21945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6B756F"/>
                </a:solidFill>
                <a:latin typeface="Consolas"/>
              </a:rPr>
              <a:t>Random Forest</a:t>
            </a:r>
          </a:p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6B756F"/>
                </a:solidFill>
                <a:latin typeface="Consolas"/>
              </a:rPr>
              <a:t>on Ames</a:t>
            </a:r>
          </a:p>
        </p:txBody>
      </p:sp>
      <p:sp>
        <p:nvSpPr>
          <p:cNvPr id="18" name="Oval 17"/>
          <p:cNvSpPr/>
          <p:nvPr/>
        </p:nvSpPr>
        <p:spPr>
          <a:xfrm>
            <a:off x="8513064" y="4352544"/>
            <a:ext cx="256032" cy="256032"/>
          </a:xfrm>
          <a:prstGeom prst="ellipse">
            <a:avLst/>
          </a:prstGeom>
          <a:solidFill>
            <a:srgbClr val="C85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43800" y="3657600"/>
            <a:ext cx="21945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 i="1">
                <a:solidFill>
                  <a:srgbClr val="2F3A39"/>
                </a:solidFill>
                <a:latin typeface="Georgia"/>
              </a:rPr>
              <a:t>Interpretation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43800" y="4800600"/>
            <a:ext cx="21945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6B756F"/>
                </a:solidFill>
                <a:latin typeface="Consolas"/>
              </a:rPr>
              <a:t>GPT-4o-mini</a:t>
            </a:r>
          </a:p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6B756F"/>
                </a:solidFill>
                <a:latin typeface="Consolas"/>
              </a:rPr>
              <a:t>grounded in stats</a:t>
            </a:r>
          </a:p>
        </p:txBody>
      </p:sp>
      <p:sp>
        <p:nvSpPr>
          <p:cNvPr id="21" name="Oval 20"/>
          <p:cNvSpPr/>
          <p:nvPr/>
        </p:nvSpPr>
        <p:spPr>
          <a:xfrm>
            <a:off x="11100816" y="4352544"/>
            <a:ext cx="256032" cy="256032"/>
          </a:xfrm>
          <a:prstGeom prst="ellipse">
            <a:avLst/>
          </a:prstGeom>
          <a:solidFill>
            <a:srgbClr val="F6F1E8"/>
          </a:solidFill>
          <a:ln w="15875">
            <a:solidFill>
              <a:srgbClr val="2F3A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131552" y="3657600"/>
            <a:ext cx="21945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 i="1">
                <a:solidFill>
                  <a:srgbClr val="2F3A39"/>
                </a:solidFill>
                <a:latin typeface="Georgia"/>
              </a:rPr>
              <a:t>Response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31552" y="4800600"/>
            <a:ext cx="21945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6B756F"/>
                </a:solidFill>
                <a:latin typeface="Consolas"/>
              </a:rPr>
              <a:t>price</a:t>
            </a:r>
          </a:p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6B756F"/>
                </a:solidFill>
                <a:latin typeface="Consolas"/>
              </a:rPr>
              <a:t>+ reasoning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08076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6B756F"/>
                </a:solidFill>
                <a:latin typeface="Consolas"/>
              </a:rPr>
              <a:t>FastAPI  ·  React + Vite  ·  Pydantic v2  ·  scikit-learn 1.5  ·  OpenAI 1.51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118872" cy="118872"/>
          </a:xfrm>
          <a:prstGeom prst="rect">
            <a:avLst/>
          </a:prstGeom>
          <a:solidFill>
            <a:srgbClr val="C85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420624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2F3A39"/>
                </a:solidFill>
                <a:latin typeface="Consolas"/>
              </a:rPr>
              <a:t>AIRE  ·  AI REAL ESTATE AGENT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0" y="6446520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 i="0">
                <a:solidFill>
                  <a:srgbClr val="9BA19A"/>
                </a:solidFill>
                <a:latin typeface="Consolas"/>
              </a:rPr>
              <a:t>SE FACTORY  ·  AIE BOOTCAMP  ·  WEEK 2  · 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6868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756F"/>
                </a:solidFill>
                <a:latin typeface="Consolas"/>
              </a:rPr>
              <a:t>04 / 07    ·    THE INTELLIGENCE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109728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0" i="0">
                <a:solidFill>
                  <a:srgbClr val="2F3A39"/>
                </a:solidFill>
                <a:latin typeface="Georgia"/>
              </a:rPr>
              <a:t>Two language models,</a:t>
            </a:r>
          </a:p>
          <a:p>
            <a:pPr algn="l">
              <a:lnSpc>
                <a:spcPct val="110000"/>
              </a:lnSpc>
            </a:pPr>
            <a:r>
              <a:rPr sz="3400" b="0" i="0">
                <a:solidFill>
                  <a:srgbClr val="2F3A39"/>
                </a:solidFill>
                <a:latin typeface="Georgia"/>
              </a:rPr>
              <a:t>wrapped around a model that knows the market.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749039"/>
            <a:ext cx="36941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6B756F"/>
                </a:solidFill>
                <a:latin typeface="Consolas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023359"/>
            <a:ext cx="3694176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 i="1">
                <a:solidFill>
                  <a:srgbClr val="2F3A39"/>
                </a:solidFill>
                <a:latin typeface="Georgia"/>
              </a:rPr>
              <a:t>Extraction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48640" y="4617719"/>
            <a:ext cx="1097280" cy="0"/>
          </a:xfrm>
          <a:prstGeom prst="line">
            <a:avLst/>
          </a:prstGeom>
          <a:ln w="15875">
            <a:solidFill>
              <a:srgbClr val="C855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48640" y="4800599"/>
            <a:ext cx="369417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2F3A39"/>
                </a:solidFill>
                <a:latin typeface="Segoe UI"/>
              </a:rPr>
              <a:t>GPT-4o-mini, few-shot,</a:t>
            </a:r>
          </a:p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2F3A39"/>
                </a:solidFill>
                <a:latin typeface="Segoe UI"/>
              </a:rPr>
              <a:t>Pydantic-validated.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577839"/>
            <a:ext cx="369417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2F6F6A"/>
                </a:solidFill>
                <a:latin typeface="Consolas"/>
              </a:rPr>
              <a:t>v2  +37 pts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961887"/>
            <a:ext cx="36941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6B756F"/>
                </a:solidFill>
                <a:latin typeface="Segoe UI"/>
              </a:rPr>
              <a:t>vs v1 on labeled queries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256532.0" y="3840479"/>
            <a:ext cx="0.0" cy="2103120"/>
          </a:xfrm>
          <a:prstGeom prst="line">
            <a:avLst/>
          </a:prstGeom>
          <a:ln w="6350">
            <a:solidFill>
              <a:srgbClr val="CFC5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4270248" y="3749039"/>
            <a:ext cx="36941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6B756F"/>
                </a:solidFill>
                <a:latin typeface="Consolas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70248" y="4023359"/>
            <a:ext cx="3694176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 i="1">
                <a:solidFill>
                  <a:srgbClr val="2F3A39"/>
                </a:solidFill>
                <a:latin typeface="Georgia"/>
              </a:rPr>
              <a:t>Prediction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270248" y="4617719"/>
            <a:ext cx="1097280" cy="0"/>
          </a:xfrm>
          <a:prstGeom prst="line">
            <a:avLst/>
          </a:prstGeom>
          <a:ln w="15875">
            <a:solidFill>
              <a:srgbClr val="C855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270248" y="4800599"/>
            <a:ext cx="369417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2F3A39"/>
                </a:solidFill>
                <a:latin typeface="Segoe UI"/>
              </a:rPr>
              <a:t>Random Forest on Ames,</a:t>
            </a:r>
          </a:p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2F3A39"/>
                </a:solidFill>
                <a:latin typeface="Segoe UI"/>
              </a:rPr>
              <a:t>imputers inside the Pipeline.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70248" y="5577839"/>
            <a:ext cx="369417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2F6F6A"/>
                </a:solidFill>
                <a:latin typeface="Consolas"/>
              </a:rPr>
              <a:t>R² 0.896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70248" y="5961887"/>
            <a:ext cx="36941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6B756F"/>
                </a:solidFill>
                <a:latin typeface="Segoe UI"/>
              </a:rPr>
              <a:t>RMSE $25,652  ·  held-out test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978140.0" y="3840479"/>
            <a:ext cx="0.0" cy="2103120"/>
          </a:xfrm>
          <a:prstGeom prst="line">
            <a:avLst/>
          </a:prstGeom>
          <a:ln w="6350">
            <a:solidFill>
              <a:srgbClr val="CFC5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991856" y="3749039"/>
            <a:ext cx="36941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6B756F"/>
                </a:solidFill>
                <a:latin typeface="Consolas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91856" y="4023359"/>
            <a:ext cx="3694176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 i="1">
                <a:solidFill>
                  <a:srgbClr val="2F3A39"/>
                </a:solidFill>
                <a:latin typeface="Georgia"/>
              </a:rPr>
              <a:t>Interpretation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991856" y="4617719"/>
            <a:ext cx="1097280" cy="0"/>
          </a:xfrm>
          <a:prstGeom prst="line">
            <a:avLst/>
          </a:prstGeom>
          <a:ln w="15875">
            <a:solidFill>
              <a:srgbClr val="C855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7991856" y="4800599"/>
            <a:ext cx="369417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2F3A39"/>
                </a:solidFill>
                <a:latin typeface="Segoe UI"/>
              </a:rPr>
              <a:t>Grounded in training medians</a:t>
            </a:r>
          </a:p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2F3A39"/>
                </a:solidFill>
                <a:latin typeface="Segoe UI"/>
              </a:rPr>
              <a:t>and neighborhood averages.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91856" y="5577839"/>
            <a:ext cx="369417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2F6F6A"/>
                </a:solidFill>
                <a:latin typeface="Consolas"/>
              </a:rPr>
              <a:t>Explains the model,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91856" y="5961887"/>
            <a:ext cx="36941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6B756F"/>
                </a:solidFill>
                <a:latin typeface="Segoe UI"/>
              </a:rPr>
              <a:t>not real estate in general.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48640" y="6309360"/>
            <a:ext cx="11091672" cy="0"/>
          </a:xfrm>
          <a:prstGeom prst="line">
            <a:avLst/>
          </a:prstGeom>
          <a:ln w="9525">
            <a:solidFill>
              <a:srgbClr val="CFC5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1">
                <a:solidFill>
                  <a:srgbClr val="6B756F"/>
                </a:solidFill>
                <a:latin typeface="Segoe UI"/>
              </a:rPr>
              <a:t>Missing features are filled from training-set medians — never invented, never zeroed.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118872" cy="118872"/>
          </a:xfrm>
          <a:prstGeom prst="rect">
            <a:avLst/>
          </a:prstGeom>
          <a:solidFill>
            <a:srgbClr val="C85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420624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2F3A39"/>
                </a:solidFill>
                <a:latin typeface="Consolas"/>
              </a:rPr>
              <a:t>AIRE  ·  AI REAL ESTATE AGENT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0" y="6446520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 i="0">
                <a:solidFill>
                  <a:srgbClr val="9BA19A"/>
                </a:solidFill>
                <a:latin typeface="Consolas"/>
              </a:rPr>
              <a:t>SE FACTORY  ·  AIE BOOTCAMP  ·  WEEK 2  · 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6868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756F"/>
                </a:solidFill>
                <a:latin typeface="Consolas"/>
              </a:rPr>
              <a:t>05 / 07    ·    LIVE DEMO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54864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5000" b="0" i="0">
                <a:solidFill>
                  <a:srgbClr val="2F3A39"/>
                </a:solidFill>
                <a:latin typeface="Georgia"/>
              </a:rPr>
              <a:t>Let’s price</a:t>
            </a:r>
          </a:p>
          <a:p>
            <a:pPr algn="l">
              <a:lnSpc>
                <a:spcPct val="102000"/>
              </a:lnSpc>
            </a:pPr>
            <a:r>
              <a:rPr sz="5000" b="0" i="0">
                <a:solidFill>
                  <a:srgbClr val="2F3A39"/>
                </a:solidFill>
                <a:latin typeface="Georgia"/>
              </a:rPr>
              <a:t>a house.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02336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756F"/>
                </a:solidFill>
                <a:latin typeface="Consolas"/>
              </a:rPr>
              <a:t>SPEAKER CUES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8640" y="4315968"/>
            <a:ext cx="4114800" cy="0"/>
          </a:xfrm>
          <a:prstGeom prst="line">
            <a:avLst/>
          </a:prstGeom>
          <a:ln w="9525">
            <a:solidFill>
              <a:srgbClr val="CFC5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48640" y="4526280"/>
            <a:ext cx="45720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00" b="0" i="0">
                <a:solidFill>
                  <a:srgbClr val="2F3A39"/>
                </a:solidFill>
                <a:latin typeface="Consolas"/>
              </a:rPr>
              <a:t>01   Type the OldTown example.</a:t>
            </a:r>
          </a:p>
          <a:p>
            <a:pPr algn="l">
              <a:lnSpc>
                <a:spcPct val="150000"/>
              </a:lnSpc>
            </a:pPr>
            <a:r>
              <a:rPr sz="1000" b="0" i="0">
                <a:solidFill>
                  <a:srgbClr val="2F3A39"/>
                </a:solidFill>
                <a:latin typeface="Consolas"/>
              </a:rPr>
              <a:t>02   Point at the three pipeline stages</a:t>
            </a:r>
          </a:p>
          <a:p>
            <a:pPr algn="l">
              <a:lnSpc>
                <a:spcPct val="150000"/>
              </a:lnSpc>
            </a:pPr>
            <a:r>
              <a:rPr sz="1000" b="0" i="0">
                <a:solidFill>
                  <a:srgbClr val="2F3A39"/>
                </a:solidFill>
                <a:latin typeface="Consolas"/>
              </a:rPr>
              <a:t>       as they light up in sequence.</a:t>
            </a:r>
          </a:p>
          <a:p>
            <a:pPr algn="l">
              <a:lnSpc>
                <a:spcPct val="150000"/>
              </a:lnSpc>
            </a:pPr>
            <a:r>
              <a:rPr sz="1000" b="0" i="0">
                <a:solidFill>
                  <a:srgbClr val="2F3A39"/>
                </a:solidFill>
                <a:latin typeface="Consolas"/>
              </a:rPr>
              <a:t>03   Read the price aloud, then one</a:t>
            </a:r>
          </a:p>
          <a:p>
            <a:pPr algn="l">
              <a:lnSpc>
                <a:spcPct val="150000"/>
              </a:lnSpc>
            </a:pPr>
            <a:r>
              <a:rPr sz="1000" b="0" i="0">
                <a:solidFill>
                  <a:srgbClr val="2F3A39"/>
                </a:solidFill>
                <a:latin typeface="Consolas"/>
              </a:rPr>
              <a:t>       line of the reasoning.</a:t>
            </a:r>
          </a:p>
          <a:p>
            <a:pPr algn="l">
              <a:lnSpc>
                <a:spcPct val="150000"/>
              </a:lnSpc>
            </a:pPr>
            <a:r>
              <a:rPr sz="1000" b="0" i="0">
                <a:solidFill>
                  <a:srgbClr val="2F3A39"/>
                </a:solidFill>
                <a:latin typeface="Consolas"/>
              </a:rPr>
              <a:t>04   Reset. If time permits, run the</a:t>
            </a:r>
          </a:p>
          <a:p>
            <a:pPr algn="l">
              <a:lnSpc>
                <a:spcPct val="150000"/>
              </a:lnSpc>
            </a:pPr>
            <a:r>
              <a:rPr sz="1000" b="0" i="0">
                <a:solidFill>
                  <a:srgbClr val="2F3A39"/>
                </a:solidFill>
                <a:latin typeface="Consolas"/>
              </a:rPr>
              <a:t>       NridgHt luxury example for contrast.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852160" y="1600200"/>
            <a:ext cx="5943600" cy="4754880"/>
          </a:xfrm>
          <a:prstGeom prst="rect">
            <a:avLst/>
          </a:prstGeom>
          <a:solidFill>
            <a:srgbClr val="FBF7EF"/>
          </a:solidFill>
          <a:ln w="12700">
            <a:solidFill>
              <a:srgbClr val="CFC5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852160" y="1600200"/>
            <a:ext cx="5943600" cy="329184"/>
          </a:xfrm>
          <a:prstGeom prst="rect">
            <a:avLst/>
          </a:prstGeom>
          <a:solidFill>
            <a:srgbClr val="EFE7DA"/>
          </a:solidFill>
          <a:ln w="6350">
            <a:solidFill>
              <a:srgbClr val="CFC5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016752" y="1709928"/>
            <a:ext cx="109728" cy="109728"/>
          </a:xfrm>
          <a:prstGeom prst="ellipse">
            <a:avLst/>
          </a:prstGeom>
          <a:solidFill>
            <a:srgbClr val="C85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217920" y="1709928"/>
            <a:ext cx="109728" cy="109728"/>
          </a:xfrm>
          <a:prstGeom prst="ellipse">
            <a:avLst/>
          </a:prstGeom>
          <a:solidFill>
            <a:srgbClr val="B88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19088" y="1709928"/>
            <a:ext cx="109728" cy="109728"/>
          </a:xfrm>
          <a:prstGeom prst="ellipse">
            <a:avLst/>
          </a:prstGeom>
          <a:solidFill>
            <a:srgbClr val="2F6F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49440" y="1664208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756F"/>
                </a:solidFill>
                <a:latin typeface="Consolas"/>
              </a:rPr>
              <a:t>aire.local  ·  /predict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28600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6B756F"/>
                </a:solidFill>
                <a:latin typeface="Consolas"/>
              </a:rPr>
              <a:t>04   ESTIMATE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309360" y="2560320"/>
            <a:ext cx="914400" cy="0"/>
          </a:xfrm>
          <a:prstGeom prst="line">
            <a:avLst/>
          </a:prstGeom>
          <a:ln w="15875">
            <a:solidFill>
              <a:srgbClr val="C855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309360" y="2651760"/>
            <a:ext cx="8229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800" b="0" i="0">
                <a:solidFill>
                  <a:srgbClr val="C8553D"/>
                </a:solidFill>
                <a:latin typeface="Consolas"/>
              </a:rPr>
              <a:t>$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0" y="2651760"/>
            <a:ext cx="420624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800" b="0" i="0">
                <a:solidFill>
                  <a:srgbClr val="2F3A39"/>
                </a:solidFill>
                <a:latin typeface="Consolas"/>
              </a:rPr>
              <a:t>167,887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4297680"/>
            <a:ext cx="50292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i="1">
                <a:solidFill>
                  <a:srgbClr val="2F3A39"/>
                </a:solidFill>
                <a:latin typeface="Georgia"/>
              </a:rPr>
              <a:t>“Below the $160,000 neighborhood median—a smaller lot and an older overall condition pull the estimate down.”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309360" y="5394960"/>
            <a:ext cx="5029200" cy="0"/>
          </a:xfrm>
          <a:prstGeom prst="line">
            <a:avLst/>
          </a:prstGeom>
          <a:ln w="9525">
            <a:solidFill>
              <a:srgbClr val="CFC5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309360" y="5532120"/>
            <a:ext cx="11887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6B756F"/>
                </a:solidFill>
                <a:latin typeface="Consolas"/>
              </a:rPr>
              <a:t>BedroomAbvGr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5779008"/>
            <a:ext cx="1188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1">
                <a:solidFill>
                  <a:srgbClr val="2F3A39"/>
                </a:solidFill>
                <a:latin typeface="Georgia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89520" y="5532120"/>
            <a:ext cx="11887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6B756F"/>
                </a:solidFill>
                <a:latin typeface="Consolas"/>
              </a:rPr>
              <a:t>Neighborhood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0" y="5779008"/>
            <a:ext cx="1188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1">
                <a:solidFill>
                  <a:srgbClr val="2F3A39"/>
                </a:solidFill>
                <a:latin typeface="Georgia"/>
              </a:rPr>
              <a:t>OldTown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69680" y="5532120"/>
            <a:ext cx="11887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6B756F"/>
                </a:solidFill>
                <a:latin typeface="Consolas"/>
              </a:rPr>
              <a:t>GrLivArea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69680" y="5779008"/>
            <a:ext cx="1188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1">
                <a:solidFill>
                  <a:srgbClr val="2F3A39"/>
                </a:solidFill>
                <a:latin typeface="Georgia"/>
              </a:rPr>
              <a:t>1,400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49840" y="5532120"/>
            <a:ext cx="11887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6B756F"/>
                </a:solidFill>
                <a:latin typeface="Consolas"/>
              </a:rPr>
              <a:t>OverallQual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49840" y="5779008"/>
            <a:ext cx="1188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1">
                <a:solidFill>
                  <a:srgbClr val="2F3A39"/>
                </a:solidFill>
                <a:latin typeface="Georgia"/>
              </a:rPr>
              <a:t>5*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9360" y="6217920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6B756F"/>
                </a:solidFill>
                <a:latin typeface="Consolas"/>
              </a:rPr>
              <a:t>*  imputed from training-set median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118872" cy="118872"/>
          </a:xfrm>
          <a:prstGeom prst="rect">
            <a:avLst/>
          </a:prstGeom>
          <a:solidFill>
            <a:srgbClr val="C85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420624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2F3A39"/>
                </a:solidFill>
                <a:latin typeface="Consolas"/>
              </a:rPr>
              <a:t>AIRE  ·  AI REAL ESTATE AGENT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0" y="6446520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 i="0">
                <a:solidFill>
                  <a:srgbClr val="9BA19A"/>
                </a:solidFill>
                <a:latin typeface="Consolas"/>
              </a:rPr>
              <a:t>SE FACTORY  ·  AIE BOOTCAMP  ·  WEEK 2  · 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6868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756F"/>
                </a:solidFill>
                <a:latin typeface="Consolas"/>
              </a:rPr>
              <a:t>06 / 07    ·    WHAT’S NEXT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0" i="1">
                <a:solidFill>
                  <a:srgbClr val="2F3A39"/>
                </a:solidFill>
                <a:latin typeface="Georgia"/>
              </a:rPr>
              <a:t>Shipped, end-to-end.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331720"/>
            <a:ext cx="320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2F6F6A"/>
                </a:solidFill>
                <a:latin typeface="Segoe UI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359152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2F3A39"/>
                </a:solidFill>
                <a:latin typeface="Segoe UI"/>
              </a:rPr>
              <a:t>Stage 1 + ML + Stage 2, wired through FastAPI and a React front end.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834640"/>
            <a:ext cx="320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2F6F6A"/>
                </a:solidFill>
                <a:latin typeface="Segoe UI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862072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2F3A39"/>
                </a:solidFill>
                <a:latin typeface="Segoe UI"/>
              </a:rPr>
              <a:t>Prompt v2 chosen against labeled ground truth  —  v2 mean accuracy 0.983 vs v1 0.617.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337560"/>
            <a:ext cx="320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2F6F6A"/>
                </a:solidFill>
                <a:latin typeface="Segoe UI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364992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2F3A39"/>
                </a:solidFill>
                <a:latin typeface="Segoe UI"/>
              </a:rPr>
              <a:t>Dockerised for one-command deploy.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48640" y="3931920"/>
            <a:ext cx="11091672" cy="0"/>
          </a:xfrm>
          <a:prstGeom prst="line">
            <a:avLst/>
          </a:prstGeom>
          <a:ln w="9525">
            <a:solidFill>
              <a:srgbClr val="CFC5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48640" y="41605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6B756F"/>
                </a:solidFill>
                <a:latin typeface="Consolas"/>
              </a:rPr>
              <a:t>NEXT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142232"/>
            <a:ext cx="10241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1">
                <a:solidFill>
                  <a:srgbClr val="2F3A39"/>
                </a:solidFill>
                <a:latin typeface="Segoe UI"/>
              </a:rPr>
              <a:t>Comparable listings  ·  confidence intervals around every price.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937760"/>
            <a:ext cx="11091672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4800" b="0" i="0">
                <a:solidFill>
                  <a:srgbClr val="2F3A39"/>
                </a:solidFill>
                <a:latin typeface="Georgia"/>
              </a:rPr>
              <a:t>Real estate,</a:t>
            </a:r>
          </a:p>
          <a:p>
            <a:pPr algn="ctr">
              <a:lnSpc>
                <a:spcPct val="105000"/>
              </a:lnSpc>
            </a:pPr>
            <a:r>
              <a:rPr sz="4800" b="0" i="0">
                <a:solidFill>
                  <a:srgbClr val="2F3A39"/>
                </a:solidFill>
                <a:latin typeface="Georgia"/>
              </a:rPr>
              <a:t>finally in plain English.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754880" y="4800600"/>
            <a:ext cx="2679192" cy="0"/>
          </a:xfrm>
          <a:prstGeom prst="line">
            <a:avLst/>
          </a:prstGeom>
          <a:ln w="19050">
            <a:solidFill>
              <a:srgbClr val="C855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