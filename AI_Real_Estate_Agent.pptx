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28016" cy="128016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402336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F3A39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02336"/>
            <a:ext cx="38679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SPRING 2026  ·  EDITION 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31520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548640" y="1417320"/>
            <a:ext cx="54864" cy="777240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141732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C8553D"/>
                </a:solidFill>
                <a:latin typeface="Consolas"/>
              </a:rPr>
              <a:t>A STORY IN NINE SCENES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1810512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4A5553"/>
                </a:solidFill>
                <a:latin typeface="Georgia"/>
              </a:rPr>
              <a:t>About why pricing a home shouldn’t require a spreadsheet.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97480"/>
            <a:ext cx="11155680" cy="2926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10800" b="0" i="0">
                <a:solidFill>
                  <a:srgbClr val="2F3A39"/>
                </a:solidFill>
                <a:latin typeface="Georgia"/>
              </a:rPr>
              <a:t>Describe a home.</a:t>
            </a:r>
          </a:p>
          <a:p>
            <a:pPr algn="l">
              <a:lnSpc>
                <a:spcPct val="98000"/>
              </a:lnSpc>
            </a:pPr>
            <a:r>
              <a:rPr sz="10800" b="0" i="0">
                <a:solidFill>
                  <a:srgbClr val="2F3A39"/>
                </a:solidFill>
                <a:latin typeface="Georgia"/>
              </a:rPr>
              <a:t>Get a price.</a:t>
            </a:r>
          </a:p>
        </p:txBody>
      </p:sp>
      <p:sp>
        <p:nvSpPr>
          <p:cNvPr id="20" name="Oval 19"/>
          <p:cNvSpPr/>
          <p:nvPr/>
        </p:nvSpPr>
        <p:spPr>
          <a:xfrm>
            <a:off x="9353398" y="5349240"/>
            <a:ext cx="312724" cy="31272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3494" y="5694882"/>
            <a:ext cx="592531" cy="427939"/>
          </a:xfrm>
          <a:prstGeom prst="roundRect">
            <a:avLst>
              <a:gd name="adj" fmla="val 45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Isosceles Triangle 21"/>
          <p:cNvSpPr/>
          <p:nvPr/>
        </p:nvSpPr>
        <p:spPr>
          <a:xfrm>
            <a:off x="10241280" y="5257800"/>
            <a:ext cx="1280160" cy="442569"/>
          </a:xfrm>
          <a:prstGeom prst="triangle">
            <a:avLst/>
          </a:prstGeom>
          <a:solidFill>
            <a:srgbClr val="2F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56494" y="5664963"/>
            <a:ext cx="1049731" cy="598677"/>
          </a:xfrm>
          <a:prstGeom prst="rect">
            <a:avLst/>
          </a:prstGeom>
          <a:solidFill>
            <a:srgbClr val="2F3A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776387" y="5994236"/>
            <a:ext cx="209946" cy="269404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482461" y="5772724"/>
            <a:ext cx="188951" cy="131708"/>
          </a:xfrm>
          <a:prstGeom prst="rect">
            <a:avLst/>
          </a:prstGeom>
          <a:solidFill>
            <a:srgbClr val="E8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1091307" y="5772724"/>
            <a:ext cx="188951" cy="131708"/>
          </a:xfrm>
          <a:prstGeom prst="rect">
            <a:avLst/>
          </a:prstGeom>
          <a:solidFill>
            <a:srgbClr val="E8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66960" y="5742432"/>
            <a:ext cx="45720" cy="45720"/>
          </a:xfrm>
          <a:prstGeom prst="ellipse">
            <a:avLst/>
          </a:prstGeom>
          <a:solidFill>
            <a:srgbClr val="6B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104120" y="5742432"/>
            <a:ext cx="45720" cy="45720"/>
          </a:xfrm>
          <a:prstGeom prst="ellipse">
            <a:avLst/>
          </a:prstGeom>
          <a:solidFill>
            <a:srgbClr val="6B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0" y="5742432"/>
            <a:ext cx="45720" cy="45720"/>
          </a:xfrm>
          <a:prstGeom prst="ellipse">
            <a:avLst/>
          </a:prstGeom>
          <a:solidFill>
            <a:srgbClr val="6B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78440" y="5742432"/>
            <a:ext cx="45720" cy="45720"/>
          </a:xfrm>
          <a:prstGeom prst="ellipse">
            <a:avLst/>
          </a:prstGeom>
          <a:solidFill>
            <a:srgbClr val="6B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515600" y="5742432"/>
            <a:ext cx="45720" cy="45720"/>
          </a:xfrm>
          <a:prstGeom prst="ellipse">
            <a:avLst/>
          </a:prstGeom>
          <a:solidFill>
            <a:srgbClr val="6B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652760" y="5742432"/>
            <a:ext cx="45720" cy="45720"/>
          </a:xfrm>
          <a:prstGeom prst="ellipse">
            <a:avLst/>
          </a:prstGeom>
          <a:solidFill>
            <a:srgbClr val="6B75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>
            <a:off x="548640" y="6217920"/>
            <a:ext cx="8138160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630936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4A5553"/>
                </a:solidFill>
                <a:latin typeface="Georgia"/>
              </a:rPr>
              <a:t>A three-minute product brief, told through one buyer’s story.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583680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SE FACTORY  ·  AIE BOOTCAMP  ·  WEEK 2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02 / 09  ·  MEET LAYLA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THE PERSON AT THE CENTRE OF THIS 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0" i="0">
                <a:solidFill>
                  <a:srgbClr val="2F3A39"/>
                </a:solidFill>
                <a:latin typeface="Georgia"/>
              </a:rPr>
              <a:t>Meet Layla.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3108960"/>
            <a:ext cx="3291840" cy="3291840"/>
          </a:xfrm>
          <a:prstGeom prst="ellipse">
            <a:avLst/>
          </a:prstGeom>
          <a:solidFill>
            <a:srgbClr val="E8A8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925726" y="3566160"/>
            <a:ext cx="903427" cy="903427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521562" y="4564684"/>
            <a:ext cx="1711756" cy="1236268"/>
          </a:xfrm>
          <a:prstGeom prst="roundRect">
            <a:avLst>
              <a:gd name="adj" fmla="val 45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172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6B756F"/>
                </a:solidFill>
                <a:latin typeface="Consolas"/>
              </a:rPr>
              <a:t>Layla, 32</a:t>
            </a:r>
          </a:p>
        </p:txBody>
      </p:sp>
      <p:sp>
        <p:nvSpPr>
          <p:cNvPr id="25" name="Rounded Rectangular Callout 24"/>
          <p:cNvSpPr/>
          <p:nvPr/>
        </p:nvSpPr>
        <p:spPr>
          <a:xfrm>
            <a:off x="4846320" y="3291840"/>
            <a:ext cx="6675120" cy="2651760"/>
          </a:xfrm>
          <a:prstGeom prst="wedgeRoundRectCallout">
            <a:avLst>
              <a:gd name="adj1" fmla="val -15000"/>
              <a:gd name="adj2" fmla="val 55000"/>
              <a:gd name="adj3" fmla="val 16667"/>
            </a:avLst>
          </a:prstGeom>
          <a:solidFill>
            <a:srgbClr val="FBF7EF"/>
          </a:solidFill>
          <a:ln w="15875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0" y="3108960"/>
            <a:ext cx="914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0" b="0" i="0">
                <a:solidFill>
                  <a:srgbClr val="C8553D"/>
                </a:solidFill>
                <a:latin typeface="Georgia"/>
              </a:rPr>
              <a:t>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379476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1">
                <a:solidFill>
                  <a:srgbClr val="2F3A39"/>
                </a:solidFill>
                <a:latin typeface="Georgia"/>
              </a:rPr>
              <a:t>I just want to know</a:t>
            </a:r>
          </a:p>
          <a:p>
            <a:pPr algn="l">
              <a:lnSpc>
                <a:spcPct val="130000"/>
              </a:lnSpc>
            </a:pPr>
            <a:r>
              <a:rPr sz="2400" b="0" i="1">
                <a:solidFill>
                  <a:srgbClr val="2F3A39"/>
                </a:solidFill>
                <a:latin typeface="Georgia"/>
              </a:rPr>
              <a:t>how much a house is worth.</a:t>
            </a:r>
          </a:p>
          <a:p>
            <a:pPr algn="l">
              <a:lnSpc>
                <a:spcPct val="130000"/>
              </a:lnSpc>
            </a:pPr>
            <a:r>
              <a:rPr sz="2400" b="0" i="1">
                <a:solidFill>
                  <a:srgbClr val="2F3A39"/>
                </a:solidFill>
                <a:latin typeface="Georgia"/>
              </a:rPr>
              <a:t>Why does it need a spreadsheet?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612648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6B756F"/>
                </a:solidFill>
                <a:latin typeface="Georgia"/>
              </a:rPr>
              <a:t>—  Layla, first-time home buyer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03 / 09  ·  THE WALL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WHAT HAPPENS WHEN SHE OPENS A PRICING TOOL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5000" b="0" i="0">
                <a:solidFill>
                  <a:srgbClr val="2F3A39"/>
                </a:solidFill>
                <a:latin typeface="Georgia"/>
              </a:rPr>
              <a:t>She has to fill</a:t>
            </a:r>
          </a:p>
          <a:p>
            <a:pPr algn="l">
              <a:lnSpc>
                <a:spcPct val="103000"/>
              </a:lnSpc>
            </a:pPr>
            <a:r>
              <a:rPr sz="5000" b="0" i="0">
                <a:solidFill>
                  <a:srgbClr val="2F3A39"/>
                </a:solidFill>
                <a:latin typeface="Georgia"/>
              </a:rPr>
              <a:t>this out first.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657600"/>
            <a:ext cx="5852160" cy="0"/>
          </a:xfrm>
          <a:prstGeom prst="line">
            <a:avLst/>
          </a:prstGeom>
          <a:ln w="15875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3794760"/>
            <a:ext cx="6400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4A5553"/>
                </a:solidFill>
                <a:latin typeface="Georgia"/>
              </a:rPr>
              <a:t>80 fields.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4A5553"/>
                </a:solidFill>
                <a:latin typeface="Georgia"/>
              </a:rPr>
              <a:t>Most she’s never heard of.</a:t>
            </a:r>
          </a:p>
          <a:p>
            <a:pPr algn="l">
              <a:lnSpc>
                <a:spcPct val="145000"/>
              </a:lnSpc>
            </a:pPr>
            <a:r>
              <a:rPr sz="1800" b="0" i="1">
                <a:solidFill>
                  <a:srgbClr val="4A5553"/>
                </a:solidFill>
                <a:latin typeface="Georgia"/>
              </a:rPr>
              <a:t>Half need a professional to answer.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4406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C8553D"/>
                </a:solidFill>
                <a:latin typeface="Consolas"/>
              </a:rPr>
              <a:t>SHE GIVES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7607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1">
                <a:solidFill>
                  <a:srgbClr val="2F3A39"/>
                </a:solidFill>
                <a:latin typeface="Georgia"/>
              </a:rPr>
              <a:t>This is the moment real estate lost her.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1097280"/>
            <a:ext cx="441655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PROPERTY VALUATION FORM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23760" y="1389888"/>
            <a:ext cx="4416552" cy="0"/>
          </a:xfrm>
          <a:prstGeom prst="line">
            <a:avLst/>
          </a:prstGeom>
          <a:ln w="12700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223760" y="155448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MSSubClass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572768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153619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23760" y="180136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MSZoning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61120" y="1819656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0" y="178308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04825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LotFrontage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61120" y="2066544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60" y="202996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295144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LotArea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2313432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0" y="22768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54203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OverallQual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560320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0" y="2523744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278892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OverallCond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61120" y="2807208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277063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303580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YearBuilt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61120" y="3054096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052560" y="301752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328269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MasVnrType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961120" y="3300984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52560" y="326440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3529584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BsmtFinType1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3547872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351129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377647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HeatingQC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3794760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52560" y="3758184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23760" y="4023360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CentralAir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4041648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052560" y="4005072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23760" y="4270248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1stFlrSF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961120" y="4288536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52560" y="4251960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23760" y="4517136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GrLivArea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4535424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4498848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23760" y="4764024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GarageCars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961120" y="4782312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52560" y="474573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23760" y="5010912"/>
            <a:ext cx="1691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PavedDrive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20" y="5029200"/>
            <a:ext cx="2651760" cy="164592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52560" y="4992624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5257800"/>
            <a:ext cx="2651760" cy="91440"/>
          </a:xfrm>
          <a:prstGeom prst="rect">
            <a:avLst/>
          </a:prstGeom>
          <a:solidFill>
            <a:srgbClr val="E6DA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961120" y="5349240"/>
            <a:ext cx="2651760" cy="91440"/>
          </a:xfrm>
          <a:prstGeom prst="rect">
            <a:avLst/>
          </a:prstGeom>
          <a:solidFill>
            <a:srgbClr val="DFD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961120" y="5440680"/>
            <a:ext cx="2651760" cy="9144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223760" y="5715000"/>
            <a:ext cx="4416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1">
                <a:solidFill>
                  <a:srgbClr val="C8553D"/>
                </a:solidFill>
                <a:latin typeface="Consolas"/>
              </a:rPr>
              <a:t>… and 65 more.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04 / 09  ·  THE IDEA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A QUIET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0" i="1">
                <a:solidFill>
                  <a:srgbClr val="4A5553"/>
                </a:solidFill>
                <a:latin typeface="Georgia"/>
              </a:rPr>
              <a:t>What if she could just… say it?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645920" y="2834640"/>
            <a:ext cx="8897112" cy="2926080"/>
          </a:xfrm>
          <a:prstGeom prst="rect">
            <a:avLst/>
          </a:prstGeom>
          <a:solidFill>
            <a:srgbClr val="FBF7EF"/>
          </a:solidFill>
          <a:ln w="254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0" y="2560320"/>
            <a:ext cx="18288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0" b="0" i="0">
                <a:solidFill>
                  <a:srgbClr val="C8553D"/>
                </a:solidFill>
                <a:latin typeface="Georgia"/>
              </a:rPr>
              <a:t>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429000"/>
            <a:ext cx="7068312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0" i="1">
                <a:solidFill>
                  <a:srgbClr val="2F3A39"/>
                </a:solidFill>
                <a:latin typeface="Georgia"/>
              </a:rPr>
              <a:t>3-bed ranch in OldTown,</a:t>
            </a:r>
          </a:p>
          <a:p>
            <a:pPr algn="l">
              <a:lnSpc>
                <a:spcPct val="120000"/>
              </a:lnSpc>
            </a:pPr>
            <a:r>
              <a:rPr sz="4400" b="0" i="1">
                <a:solidFill>
                  <a:srgbClr val="2F3A39"/>
                </a:solidFill>
                <a:latin typeface="Georgia"/>
              </a:rPr>
              <a:t>1,400 sqft, good shape.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4114800"/>
            <a:ext cx="13716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0" i="0">
                <a:solidFill>
                  <a:srgbClr val="E8A897"/>
                </a:solidFill>
                <a:latin typeface="Georgia"/>
              </a:rPr>
              <a:t>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8978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1">
                <a:solidFill>
                  <a:srgbClr val="6B756F"/>
                </a:solidFill>
                <a:latin typeface="Georgia"/>
              </a:rPr>
              <a:t>One sentence. That’s it. No fields, no dropdowns, no glossary.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05 / 09  ·  THE TRANSFORMATION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WHAT HAPPENS NEXT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2F3A39"/>
                </a:solidFill>
                <a:latin typeface="Georgia"/>
              </a:rPr>
              <a:t>Three seconds later,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148840"/>
            <a:ext cx="1115568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1">
                <a:solidFill>
                  <a:srgbClr val="C8553D"/>
                </a:solidFill>
                <a:latin typeface="Georgia"/>
              </a:rPr>
              <a:t>a number with a reason.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94760"/>
            <a:ext cx="4389120" cy="2194560"/>
          </a:xfrm>
          <a:prstGeom prst="rect">
            <a:avLst/>
          </a:prstGeom>
          <a:solidFill>
            <a:srgbClr val="FBF7EF"/>
          </a:solidFill>
          <a:ln w="1270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069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INPUT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4343400"/>
            <a:ext cx="731520" cy="0"/>
          </a:xfrm>
          <a:prstGeom prst="line">
            <a:avLst/>
          </a:prstGeom>
          <a:ln w="15875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22960" y="4572000"/>
            <a:ext cx="38404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F3A39"/>
                </a:solidFill>
                <a:latin typeface="Georgia"/>
              </a:rPr>
              <a:t>“3-bed ranch</a:t>
            </a:r>
          </a:p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F3A39"/>
                </a:solidFill>
                <a:latin typeface="Georgia"/>
              </a:rPr>
              <a:t>in OldTown,</a:t>
            </a:r>
          </a:p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F3A39"/>
                </a:solidFill>
                <a:latin typeface="Georgia"/>
              </a:rPr>
              <a:t>1,400 sqft,</a:t>
            </a:r>
          </a:p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2F3A39"/>
                </a:solidFill>
                <a:latin typeface="Georgia"/>
              </a:rPr>
              <a:t>good shape.”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5120640" y="4572000"/>
            <a:ext cx="1920240" cy="640080"/>
          </a:xfrm>
          <a:prstGeom prst="rightArrow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16052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≈ 3 SECONDS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349240"/>
            <a:ext cx="2468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understand  ·  predict</a:t>
            </a:r>
          </a:p>
          <a:p>
            <a:pPr algn="ctr">
              <a:lnSpc>
                <a:spcPct val="14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·  explain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794760"/>
            <a:ext cx="4416552" cy="2194560"/>
          </a:xfrm>
          <a:prstGeom prst="rect">
            <a:avLst/>
          </a:prstGeom>
          <a:solidFill>
            <a:srgbClr val="FBF7EF"/>
          </a:solidFill>
          <a:ln w="1905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4069080"/>
            <a:ext cx="3867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OUTPUT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498080" y="4343400"/>
            <a:ext cx="822960" cy="0"/>
          </a:xfrm>
          <a:prstGeom prst="line">
            <a:avLst/>
          </a:prstGeom>
          <a:ln w="15875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498080" y="4480560"/>
            <a:ext cx="7315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600" b="0" i="0">
                <a:solidFill>
                  <a:srgbClr val="C8553D"/>
                </a:solidFill>
                <a:latin typeface="Consolas"/>
              </a:rPr>
              <a:t>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480560"/>
            <a:ext cx="331927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600" b="0" i="0">
                <a:solidFill>
                  <a:srgbClr val="2F3A39"/>
                </a:solidFill>
                <a:latin typeface="Consolas"/>
              </a:rPr>
              <a:t>167,887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0" y="5577840"/>
            <a:ext cx="3867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53"/>
                </a:solidFill>
                <a:latin typeface="Georgia"/>
              </a:rPr>
              <a:t>“Below the neighbourhood median 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0" y="5806440"/>
            <a:ext cx="386791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1">
                <a:solidFill>
                  <a:srgbClr val="4A5553"/>
                </a:solidFill>
                <a:latin typeface="Georgia"/>
              </a:rPr>
              <a:t>smaller lot, older condition.”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06 / 09  ·  UNDER THE HOOD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HOW THE MAGIC ACTUALLY WORKS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i="0">
                <a:solidFill>
                  <a:srgbClr val="2F3A39"/>
                </a:solidFill>
                <a:latin typeface="Georgia"/>
              </a:rPr>
              <a:t>Three helpers, working in sequence.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468880"/>
            <a:ext cx="11091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6B756F"/>
                </a:solidFill>
                <a:latin typeface="Georgia"/>
              </a:rPr>
              <a:t>They don’t sound technical — on purpose. You can describe them at a dinner party.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0400"/>
            <a:ext cx="3694176" cy="2834640"/>
          </a:xfrm>
          <a:prstGeom prst="rect">
            <a:avLst/>
          </a:prstGeom>
          <a:solidFill>
            <a:srgbClr val="FBF7EF"/>
          </a:solidFill>
          <a:ln w="9525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824228" y="3451860"/>
            <a:ext cx="1143000" cy="1143000"/>
          </a:xfrm>
          <a:prstGeom prst="ellipse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213305" y="3543300"/>
            <a:ext cx="364845" cy="364845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50085" y="3946549"/>
            <a:ext cx="691286" cy="499262"/>
          </a:xfrm>
          <a:prstGeom prst="roundRect">
            <a:avLst>
              <a:gd name="adj" fmla="val 45000"/>
            </a:avLst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3694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F3A39"/>
                </a:solidFill>
                <a:latin typeface="Georgia"/>
              </a:rPr>
              <a:t>The Listener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4068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6B756F"/>
                </a:solidFill>
                <a:latin typeface="Georgia"/>
              </a:rPr>
              <a:t>reads what she said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172200"/>
            <a:ext cx="3145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Turns her sentence into a list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of facts the computer can use.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Knows “ranch” means 1-storey.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943600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C8553D"/>
                </a:solidFill>
                <a:latin typeface="Consolas"/>
              </a:rPr>
              <a:t>GPT-4o-mini  +  Pydantic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151376" y="3977640"/>
            <a:ext cx="219456" cy="164592"/>
          </a:xfrm>
          <a:prstGeom prst="rightArrow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79392" y="3200400"/>
            <a:ext cx="3694176" cy="2834640"/>
          </a:xfrm>
          <a:prstGeom prst="rect">
            <a:avLst/>
          </a:prstGeom>
          <a:solidFill>
            <a:srgbClr val="FBF7EF"/>
          </a:solidFill>
          <a:ln w="9525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554980" y="3451860"/>
            <a:ext cx="1143000" cy="1143000"/>
          </a:xfrm>
          <a:prstGeom prst="ellipse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4057" y="3543300"/>
            <a:ext cx="364845" cy="364845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780837" y="3946549"/>
            <a:ext cx="691286" cy="499262"/>
          </a:xfrm>
          <a:prstGeom prst="roundRect">
            <a:avLst>
              <a:gd name="adj" fmla="val 45000"/>
            </a:avLst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79392" y="480060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2F6F6A"/>
                </a:solidFill>
                <a:latin typeface="Consolas"/>
              </a:rPr>
              <a:t>02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9392" y="5029200"/>
            <a:ext cx="3694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F3A39"/>
                </a:solidFill>
                <a:latin typeface="Georgia"/>
              </a:rPr>
              <a:t>The Expert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544068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6B756F"/>
                </a:solidFill>
                <a:latin typeface="Georgia"/>
              </a:rPr>
              <a:t>has seen it before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6172200"/>
            <a:ext cx="3145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Has looked at 2,051 real home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sales and learned the patterns.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Gives the price.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62272" y="5943600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2F6F6A"/>
                </a:solidFill>
                <a:latin typeface="Consolas"/>
              </a:rPr>
              <a:t>Random Forest  ·  sklearn</a:t>
            </a:r>
          </a:p>
        </p:txBody>
      </p:sp>
      <p:sp>
        <p:nvSpPr>
          <p:cNvPr id="41" name="Right Arrow 40"/>
          <p:cNvSpPr/>
          <p:nvPr/>
        </p:nvSpPr>
        <p:spPr>
          <a:xfrm>
            <a:off x="7882128" y="3977640"/>
            <a:ext cx="219456" cy="164592"/>
          </a:xfrm>
          <a:prstGeom prst="rightArrow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10144" y="3200400"/>
            <a:ext cx="3694176" cy="2834640"/>
          </a:xfrm>
          <a:prstGeom prst="rect">
            <a:avLst/>
          </a:prstGeom>
          <a:solidFill>
            <a:srgbClr val="FBF7EF"/>
          </a:solidFill>
          <a:ln w="9525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285732" y="3451860"/>
            <a:ext cx="1143000" cy="1143000"/>
          </a:xfrm>
          <a:prstGeom prst="ellipse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674809" y="3543300"/>
            <a:ext cx="364845" cy="364845"/>
          </a:xfrm>
          <a:prstGeom prst="ellipse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511589" y="3946549"/>
            <a:ext cx="691286" cy="499262"/>
          </a:xfrm>
          <a:prstGeom prst="roundRect">
            <a:avLst>
              <a:gd name="adj" fmla="val 45000"/>
            </a:avLst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10144" y="480060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B88B4A"/>
                </a:solidFill>
                <a:latin typeface="Consolas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10144" y="5029200"/>
            <a:ext cx="369417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0" i="1">
                <a:solidFill>
                  <a:srgbClr val="2F3A39"/>
                </a:solidFill>
                <a:latin typeface="Georgia"/>
              </a:rPr>
              <a:t>The Narrator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4" y="5440680"/>
            <a:ext cx="36941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1">
                <a:solidFill>
                  <a:srgbClr val="6B756F"/>
                </a:solidFill>
                <a:latin typeface="Georgia"/>
              </a:rPr>
              <a:t>explains why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4464" y="6172200"/>
            <a:ext cx="314553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Takes the price + the facts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and writes a short reason</a:t>
            </a:r>
          </a:p>
          <a:p>
            <a:pPr algn="ctr">
              <a:lnSpc>
                <a:spcPct val="140000"/>
              </a:lnSpc>
            </a:pPr>
            <a:r>
              <a:rPr sz="1200" b="0" i="0">
                <a:solidFill>
                  <a:srgbClr val="4A5553"/>
                </a:solidFill>
                <a:latin typeface="Segoe UI"/>
              </a:rPr>
              <a:t>in plain English.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93024" y="5943600"/>
            <a:ext cx="33284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B88B4A"/>
                </a:solidFill>
                <a:latin typeface="Consolas"/>
              </a:rPr>
              <a:t>GPT-4o-mini  +  training stats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07 / 09  ·  THE PROOF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WHY LAYLA CAN TRUST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11155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i="0">
                <a:solidFill>
                  <a:srgbClr val="2F3A39"/>
                </a:solidFill>
                <a:latin typeface="Georgia"/>
              </a:rPr>
              <a:t>Not a party trick.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246888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6B756F"/>
                </a:solidFill>
                <a:latin typeface="Georgia"/>
              </a:rPr>
              <a:t>Three numbers that earn her confidence before the first click.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200400"/>
            <a:ext cx="3514344" cy="2834640"/>
          </a:xfrm>
          <a:prstGeom prst="rect">
            <a:avLst/>
          </a:prstGeom>
          <a:solidFill>
            <a:srgbClr val="FBF7EF"/>
          </a:solidFill>
          <a:ln w="9525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>
            <a:off x="1162812" y="3557016"/>
            <a:ext cx="685800" cy="289681"/>
          </a:xfrm>
          <a:prstGeom prst="triangl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24534" y="3823522"/>
            <a:ext cx="562356" cy="391862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449476" y="4039047"/>
            <a:ext cx="112471" cy="176337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292016" y="3894057"/>
            <a:ext cx="101224" cy="86209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618184" y="3894057"/>
            <a:ext cx="101224" cy="86209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Isosceles Triangle 27"/>
          <p:cNvSpPr/>
          <p:nvPr/>
        </p:nvSpPr>
        <p:spPr>
          <a:xfrm>
            <a:off x="1962912" y="3557016"/>
            <a:ext cx="685800" cy="289681"/>
          </a:xfrm>
          <a:prstGeom prst="triangl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24634" y="3823522"/>
            <a:ext cx="562356" cy="391862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49576" y="4039047"/>
            <a:ext cx="112471" cy="176337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92116" y="3894057"/>
            <a:ext cx="101224" cy="86209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18284" y="3894057"/>
            <a:ext cx="101224" cy="86209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sosceles Triangle 32"/>
          <p:cNvSpPr/>
          <p:nvPr/>
        </p:nvSpPr>
        <p:spPr>
          <a:xfrm>
            <a:off x="2763012" y="3557016"/>
            <a:ext cx="685800" cy="289681"/>
          </a:xfrm>
          <a:prstGeom prst="triangl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824734" y="3823522"/>
            <a:ext cx="562356" cy="391862"/>
          </a:xfrm>
          <a:prstGeom prst="rect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049676" y="4039047"/>
            <a:ext cx="112471" cy="176337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892216" y="3894057"/>
            <a:ext cx="101224" cy="86209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18384" y="3894057"/>
            <a:ext cx="101224" cy="86209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80560"/>
            <a:ext cx="3514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2F3A39"/>
                </a:solidFill>
                <a:latin typeface="Georgia"/>
              </a:rPr>
              <a:t>2,051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03520"/>
            <a:ext cx="3514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1">
                <a:solidFill>
                  <a:srgbClr val="2F6F6A"/>
                </a:solidFill>
                <a:latin typeface="Georgia"/>
              </a:rPr>
              <a:t>real homes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737360.0" y="5650992"/>
            <a:ext cx="1136904.0" cy="0"/>
          </a:xfrm>
          <a:prstGeom prst="line">
            <a:avLst/>
          </a:prstGeom>
          <a:ln w="6350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" y="5742432"/>
            <a:ext cx="2965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4A5553"/>
                </a:solidFill>
                <a:latin typeface="Segoe UI"/>
              </a:rPr>
              <a:t>Every estimate is rooted in actual sales from Ames, Iowa.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37304" y="3200400"/>
            <a:ext cx="3514344" cy="2834640"/>
          </a:xfrm>
          <a:prstGeom prst="rect">
            <a:avLst/>
          </a:prstGeom>
          <a:solidFill>
            <a:srgbClr val="FBF7EF"/>
          </a:solidFill>
          <a:ln w="9525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60136" y="3451860"/>
            <a:ext cx="868680" cy="868680"/>
          </a:xfrm>
          <a:prstGeom prst="ellipse">
            <a:avLst/>
          </a:prstGeom>
          <a:solidFill>
            <a:srgbClr val="FBF7EF"/>
          </a:solidFill>
          <a:ln w="1905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07812" y="3599536"/>
            <a:ext cx="573328" cy="573328"/>
          </a:xfrm>
          <a:prstGeom prst="ellipse">
            <a:avLst/>
          </a:prstGeom>
          <a:solidFill>
            <a:srgbClr val="FBF7EF"/>
          </a:solidFill>
          <a:ln w="1905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51144" y="3742868"/>
            <a:ext cx="286664" cy="28666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337304" y="4480560"/>
            <a:ext cx="3514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2F3A39"/>
                </a:solidFill>
                <a:latin typeface="Georgia"/>
              </a:rPr>
              <a:t>~$25K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7304" y="5303520"/>
            <a:ext cx="3514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1">
                <a:solidFill>
                  <a:srgbClr val="C8553D"/>
                </a:solidFill>
                <a:latin typeface="Georgia"/>
              </a:rPr>
              <a:t>typical miss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526024.0" y="5650992"/>
            <a:ext cx="1136904.0" cy="0"/>
          </a:xfrm>
          <a:prstGeom prst="line">
            <a:avLst/>
          </a:prstGeom>
          <a:ln w="6350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611624" y="5742432"/>
            <a:ext cx="2965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4A5553"/>
                </a:solidFill>
                <a:latin typeface="Segoe UI"/>
              </a:rPr>
              <a:t>About one kitchen renovation — on a dataset that ranges from $12K to $755K.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25968" y="3200400"/>
            <a:ext cx="3514344" cy="2834640"/>
          </a:xfrm>
          <a:prstGeom prst="rect">
            <a:avLst/>
          </a:prstGeom>
          <a:solidFill>
            <a:srgbClr val="FBF7EF"/>
          </a:solidFill>
          <a:ln w="9525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ular Callout 50"/>
          <p:cNvSpPr/>
          <p:nvPr/>
        </p:nvSpPr>
        <p:spPr>
          <a:xfrm>
            <a:off x="9288780" y="3451860"/>
            <a:ext cx="1188720" cy="868680"/>
          </a:xfrm>
          <a:prstGeom prst="wedgeRoundRectCallout">
            <a:avLst>
              <a:gd name="adj1" fmla="val -20000"/>
              <a:gd name="adj2" fmla="val 90000"/>
              <a:gd name="adj3" fmla="val 16667"/>
            </a:avLst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88780" y="3406140"/>
            <a:ext cx="118872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FBF7EF"/>
                </a:solidFill>
                <a:latin typeface="Segoe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25968" y="4480560"/>
            <a:ext cx="35143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2F3A39"/>
                </a:solidFill>
                <a:latin typeface="Georgia"/>
              </a:rPr>
              <a:t>98%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25968" y="5303520"/>
            <a:ext cx="35143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 i="1">
                <a:solidFill>
                  <a:srgbClr val="B88B4A"/>
                </a:solidFill>
                <a:latin typeface="Georgia"/>
              </a:rPr>
              <a:t>understood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314688.0" y="5650992"/>
            <a:ext cx="1136904.0" cy="0"/>
          </a:xfrm>
          <a:prstGeom prst="line">
            <a:avLst/>
          </a:prstGeom>
          <a:ln w="6350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400288" y="5742432"/>
            <a:ext cx="29657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100" b="0" i="0">
                <a:solidFill>
                  <a:srgbClr val="4A5553"/>
                </a:solidFill>
                <a:latin typeface="Segoe UI"/>
              </a:rPr>
              <a:t>Nearly every normal sentence becomes the right structured facts.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108192"/>
            <a:ext cx="3514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training set, 70/15/15 split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37304" y="6108192"/>
            <a:ext cx="3514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RMSE on held-out test  ·  R² 0.896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25968" y="6108192"/>
            <a:ext cx="3514344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prompt v2  ·  labeled benchmark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FC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08 / 09  ·  THE DEMO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LET’S WATCH LAYLA USE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53035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5000" b="0" i="0">
                <a:solidFill>
                  <a:srgbClr val="2F3A39"/>
                </a:solidFill>
                <a:latin typeface="Georgia"/>
              </a:rPr>
              <a:t>Now</a:t>
            </a:r>
          </a:p>
          <a:p>
            <a:pPr algn="l">
              <a:lnSpc>
                <a:spcPct val="102000"/>
              </a:lnSpc>
            </a:pPr>
            <a:r>
              <a:rPr sz="5000" b="0" i="0">
                <a:solidFill>
                  <a:srgbClr val="2F3A39"/>
                </a:solidFill>
                <a:latin typeface="Georgia"/>
              </a:rPr>
              <a:t>she just</a:t>
            </a:r>
          </a:p>
          <a:p>
            <a:pPr algn="l">
              <a:lnSpc>
                <a:spcPct val="102000"/>
              </a:lnSpc>
            </a:pPr>
            <a:r>
              <a:rPr sz="5000" b="0" i="0">
                <a:solidFill>
                  <a:srgbClr val="2F3A39"/>
                </a:solidFill>
                <a:latin typeface="Georgia"/>
              </a:rPr>
              <a:t>says it.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23360"/>
            <a:ext cx="5029200" cy="0"/>
          </a:xfrm>
          <a:prstGeom prst="line">
            <a:avLst/>
          </a:prstGeom>
          <a:ln w="15875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16052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SPEAKER CUES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48056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3A39"/>
                </a:solidFill>
                <a:latin typeface="Consolas"/>
              </a:rPr>
              <a:t>Type the OldTown example.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7091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70916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3A39"/>
                </a:solidFill>
                <a:latin typeface="Consolas"/>
              </a:rPr>
              <a:t>Let the three stages light up.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9377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3776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3A39"/>
                </a:solidFill>
                <a:latin typeface="Consolas"/>
              </a:rPr>
              <a:t>Read the price aloud.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663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16636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3A39"/>
                </a:solidFill>
                <a:latin typeface="Consolas"/>
              </a:rPr>
              <a:t>Read one line of the reasoning.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394960"/>
            <a:ext cx="365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394960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2F3A39"/>
                </a:solidFill>
                <a:latin typeface="Consolas"/>
              </a:rPr>
              <a:t>If time allows, try luxury NridgHt.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1188720"/>
            <a:ext cx="5623560" cy="5074920"/>
          </a:xfrm>
          <a:prstGeom prst="rect">
            <a:avLst/>
          </a:prstGeom>
          <a:solidFill>
            <a:srgbClr val="FBF7EF"/>
          </a:solidFill>
          <a:ln w="1270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26480" y="1188720"/>
            <a:ext cx="5623560" cy="365760"/>
          </a:xfrm>
          <a:prstGeom prst="rect">
            <a:avLst/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6126480" y="1554480"/>
            <a:ext cx="5623560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309360" y="1307592"/>
            <a:ext cx="109728" cy="109728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92240" y="1307592"/>
            <a:ext cx="109728" cy="109728"/>
          </a:xfrm>
          <a:prstGeom prst="ellipse">
            <a:avLst/>
          </a:prstGeom>
          <a:solidFill>
            <a:srgbClr val="B88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675120" y="1307592"/>
            <a:ext cx="109728" cy="109728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66660" y="1280160"/>
            <a:ext cx="2743200" cy="201168"/>
          </a:xfrm>
          <a:prstGeom prst="roundRect">
            <a:avLst>
              <a:gd name="adj" fmla="val 20000"/>
            </a:avLst>
          </a:prstGeom>
          <a:solidFill>
            <a:srgbClr val="FBF7EF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6660" y="128930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aire.local  /  predict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1737360"/>
            <a:ext cx="4983480" cy="502920"/>
          </a:xfrm>
          <a:prstGeom prst="rect">
            <a:avLst/>
          </a:prstGeom>
          <a:solidFill>
            <a:srgbClr val="EFE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>
            <a:off x="6446520" y="2240280"/>
            <a:ext cx="4983480" cy="0"/>
          </a:xfrm>
          <a:prstGeom prst="line">
            <a:avLst/>
          </a:prstGeom>
          <a:ln w="6350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611112" y="1901952"/>
            <a:ext cx="164592" cy="164592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11112" y="187452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BF7EF"/>
                </a:solidFill>
                <a:latin typeface="Segoe U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85432" y="1901952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F3A39"/>
                </a:solidFill>
                <a:latin typeface="Consolas"/>
              </a:rPr>
              <a:t>01  LISTEN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107680.0" y="1828800"/>
            <a:ext cx="0.0" cy="320040"/>
          </a:xfrm>
          <a:prstGeom prst="line">
            <a:avLst/>
          </a:prstGeom>
          <a:ln w="6350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272272" y="1901952"/>
            <a:ext cx="164592" cy="164592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2272" y="187452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BF7EF"/>
                </a:solidFill>
                <a:latin typeface="Segoe UI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6592" y="1901952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F3A39"/>
                </a:solidFill>
                <a:latin typeface="Consolas"/>
              </a:rPr>
              <a:t>02  PREDICT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768840.0" y="1828800"/>
            <a:ext cx="0.0" cy="320040"/>
          </a:xfrm>
          <a:prstGeom prst="line">
            <a:avLst/>
          </a:prstGeom>
          <a:ln w="6350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Oval 50"/>
          <p:cNvSpPr/>
          <p:nvPr/>
        </p:nvSpPr>
        <p:spPr>
          <a:xfrm>
            <a:off x="9933432" y="1901952"/>
            <a:ext cx="164592" cy="164592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33432" y="1874520"/>
            <a:ext cx="1645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FBF7EF"/>
                </a:solidFill>
                <a:latin typeface="Segoe UI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07752" y="1901952"/>
            <a:ext cx="1203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2F3A39"/>
                </a:solidFill>
                <a:latin typeface="Consolas"/>
              </a:rPr>
              <a:t>03  EXPLAIN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37960" y="242316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04   ESTIMATE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537960" y="2697480"/>
            <a:ext cx="822960" cy="0"/>
          </a:xfrm>
          <a:prstGeom prst="line">
            <a:avLst/>
          </a:prstGeom>
          <a:ln w="15875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492240" y="2788920"/>
            <a:ext cx="822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0" b="0" i="0">
                <a:solidFill>
                  <a:srgbClr val="C8553D"/>
                </a:solidFill>
                <a:latin typeface="Consolas"/>
              </a:rPr>
              <a:t>$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178040" y="2788920"/>
            <a:ext cx="397764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0" b="0" i="0">
                <a:solidFill>
                  <a:srgbClr val="2F3A39"/>
                </a:solidFill>
                <a:latin typeface="Consolas"/>
              </a:rPr>
              <a:t>167,887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37960" y="416052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USD  ·  point estimate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6537960" y="4526280"/>
            <a:ext cx="4800600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537960" y="4617720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REASONING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37960" y="4846320"/>
            <a:ext cx="4800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2F3A39"/>
                </a:solidFill>
                <a:latin typeface="Georgia"/>
              </a:rPr>
              <a:t>“Below the $160,000 neighbourhood median.</a:t>
            </a:r>
          </a:p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2F3A39"/>
                </a:solidFill>
                <a:latin typeface="Georgia"/>
              </a:rPr>
              <a:t>A smaller lot and an older overall condition</a:t>
            </a:r>
          </a:p>
          <a:p>
            <a:pPr algn="l">
              <a:lnSpc>
                <a:spcPct val="135000"/>
              </a:lnSpc>
            </a:pPr>
            <a:r>
              <a:rPr sz="1300" b="0" i="1">
                <a:solidFill>
                  <a:srgbClr val="2F3A39"/>
                </a:solidFill>
                <a:latin typeface="Georgia"/>
              </a:rPr>
              <a:t>pull the estimate down.”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6537960" y="6080760"/>
            <a:ext cx="4800600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537960" y="6172199"/>
            <a:ext cx="4800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UNDERSTOOD  ·  4 of 12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37960" y="6400799"/>
            <a:ext cx="1145286" cy="502920"/>
          </a:xfrm>
          <a:prstGeom prst="roundRect">
            <a:avLst>
              <a:gd name="adj" fmla="val 15000"/>
            </a:avLst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629400" y="6446519"/>
            <a:ext cx="9624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BedroomAbvGr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629400" y="6629399"/>
            <a:ext cx="962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F3A39"/>
                </a:solidFill>
                <a:latin typeface="Georgia"/>
              </a:rPr>
              <a:t>3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756398" y="6400799"/>
            <a:ext cx="1145286" cy="502920"/>
          </a:xfrm>
          <a:prstGeom prst="roundRect">
            <a:avLst>
              <a:gd name="adj" fmla="val 15000"/>
            </a:avLst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47838" y="6446519"/>
            <a:ext cx="9624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Neighborhood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47838" y="6629399"/>
            <a:ext cx="962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F3A39"/>
                </a:solidFill>
                <a:latin typeface="Georgia"/>
              </a:rPr>
              <a:t>OldTown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974836" y="6400799"/>
            <a:ext cx="1145286" cy="502920"/>
          </a:xfrm>
          <a:prstGeom prst="roundRect">
            <a:avLst>
              <a:gd name="adj" fmla="val 15000"/>
            </a:avLst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066276" y="6446519"/>
            <a:ext cx="9624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GrLivArea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66276" y="6629399"/>
            <a:ext cx="962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F3A39"/>
                </a:solidFill>
                <a:latin typeface="Georgia"/>
              </a:rPr>
              <a:t>1,400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0193274" y="6400799"/>
            <a:ext cx="1145286" cy="502920"/>
          </a:xfrm>
          <a:prstGeom prst="roundRect">
            <a:avLst>
              <a:gd name="adj" fmla="val 15000"/>
            </a:avLst>
          </a:prstGeom>
          <a:solidFill>
            <a:srgbClr val="EFE7DA"/>
          </a:solidFill>
          <a:ln w="6350">
            <a:solidFill>
              <a:srgbClr val="CFC5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84714" y="6446519"/>
            <a:ext cx="96240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OverallQual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284714" y="6629399"/>
            <a:ext cx="9624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2F3A39"/>
                </a:solidFill>
                <a:latin typeface="Georgia"/>
              </a:rPr>
              <a:t>5*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37960" y="6967727"/>
            <a:ext cx="4800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6B756F"/>
                </a:solidFill>
                <a:latin typeface="Consolas"/>
              </a:rPr>
              <a:t>*  imputed from training-set median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38912"/>
            <a:ext cx="109728" cy="109728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2F3A39"/>
                </a:solidFill>
                <a:latin typeface="Consolas"/>
              </a:rPr>
              <a:t>AIRE  ·  A PRODUCT BRIEF</a:t>
            </a:r>
          </a:p>
        </p:txBody>
      </p:sp>
      <p:sp>
        <p:nvSpPr>
          <p:cNvPr id="5" name="Oval 4"/>
          <p:cNvSpPr/>
          <p:nvPr/>
        </p:nvSpPr>
        <p:spPr>
          <a:xfrm>
            <a:off x="483854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4029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442051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743803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045555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47307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49059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950811" y="466344"/>
            <a:ext cx="100584" cy="100584"/>
          </a:xfrm>
          <a:prstGeom prst="ellipse">
            <a:avLst/>
          </a:prstGeom>
          <a:solidFill>
            <a:srgbClr val="FBF7EF"/>
          </a:solidFill>
          <a:ln w="12700">
            <a:solidFill>
              <a:srgbClr val="C8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52563" y="466344"/>
            <a:ext cx="100584" cy="100584"/>
          </a:xfrm>
          <a:prstGeom prst="ellipse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411480"/>
            <a:ext cx="38679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1" i="0">
                <a:solidFill>
                  <a:srgbClr val="C8553D"/>
                </a:solidFill>
                <a:latin typeface="Consolas"/>
              </a:rPr>
              <a:t>SCENE 09 / 09  ·  THE VISION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713232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48640" y="6419088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AIRE  ·  AI REAL ESTATE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6510528"/>
            <a:ext cx="5696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9BA19A"/>
                </a:solidFill>
                <a:latin typeface="Consolas"/>
              </a:rPr>
              <a:t>SE FACTORY  ·  AIE BOOTCAMP  ·  WEEK 2  · 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09728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6B756F"/>
                </a:solidFill>
                <a:latin typeface="Consolas"/>
              </a:rPr>
              <a:t>WHERE THIS GOES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63040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0" i="1">
                <a:solidFill>
                  <a:srgbClr val="4A5553"/>
                </a:solidFill>
                <a:latin typeface="Georgia"/>
              </a:rPr>
              <a:t>Shipped, end-to-end.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194560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548640" y="2450592"/>
            <a:ext cx="201168" cy="201168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41401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BF7E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3774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F3A39"/>
                </a:solidFill>
                <a:latin typeface="Segoe UI"/>
              </a:rPr>
              <a:t>A language model listens.  A real model prices.  A second language model explains.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272491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app/chain/  ·  app/ml/  ·  app/main.py</a:t>
            </a:r>
          </a:p>
        </p:txBody>
      </p:sp>
      <p:sp>
        <p:nvSpPr>
          <p:cNvPr id="26" name="Oval 25"/>
          <p:cNvSpPr/>
          <p:nvPr/>
        </p:nvSpPr>
        <p:spPr>
          <a:xfrm>
            <a:off x="548640" y="3090672"/>
            <a:ext cx="201168" cy="201168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5409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BF7EF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0175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F3A39"/>
                </a:solidFill>
                <a:latin typeface="Segoe UI"/>
              </a:rPr>
              <a:t>The winning prompt was chosen against labelled data.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36499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v2 accuracy 0.983  ·  v1 accuracy 0.617</a:t>
            </a:r>
          </a:p>
        </p:txBody>
      </p:sp>
      <p:sp>
        <p:nvSpPr>
          <p:cNvPr id="30" name="Oval 29"/>
          <p:cNvSpPr/>
          <p:nvPr/>
        </p:nvSpPr>
        <p:spPr>
          <a:xfrm>
            <a:off x="548640" y="3730752"/>
            <a:ext cx="201168" cy="201168"/>
          </a:xfrm>
          <a:prstGeom prst="ellipse">
            <a:avLst/>
          </a:prstGeom>
          <a:solidFill>
            <a:srgbClr val="2F6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694176"/>
            <a:ext cx="2011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BF7EF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657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F3A39"/>
                </a:solidFill>
                <a:latin typeface="Segoe UI"/>
              </a:rPr>
              <a:t>One command deploys it — backend, frontend, model, all boxed up.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005072"/>
            <a:ext cx="10515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i="0">
                <a:solidFill>
                  <a:srgbClr val="6B756F"/>
                </a:solidFill>
                <a:latin typeface="Consolas"/>
              </a:rPr>
              <a:t>docker compose up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343400"/>
            <a:ext cx="11091672" cy="0"/>
          </a:xfrm>
          <a:prstGeom prst="line">
            <a:avLst/>
          </a:prstGeom>
          <a:ln w="9525">
            <a:solidFill>
              <a:srgbClr val="CFC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449884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C8553D"/>
                </a:solidFill>
                <a:latin typeface="Consolas"/>
              </a:rPr>
              <a:t>NEXT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480560"/>
            <a:ext cx="101772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2F3A39"/>
                </a:solidFill>
                <a:latin typeface="Georgia"/>
              </a:rPr>
              <a:t>Comparable listings.  Confidence around every price.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4114800" y="5532120"/>
            <a:ext cx="3959352" cy="0"/>
          </a:xfrm>
          <a:prstGeom prst="line">
            <a:avLst/>
          </a:prstGeom>
          <a:ln w="25400">
            <a:solidFill>
              <a:srgbClr val="C855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566928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4000" b="0" i="1">
                <a:solidFill>
                  <a:srgbClr val="2F3A39"/>
                </a:solidFill>
                <a:latin typeface="Georgia"/>
              </a:rPr>
              <a:t>A price with a reason</a:t>
            </a:r>
          </a:p>
          <a:p>
            <a:pPr algn="ctr">
              <a:lnSpc>
                <a:spcPct val="102000"/>
              </a:lnSpc>
            </a:pPr>
            <a:r>
              <a:rPr sz="4000" b="0" i="1">
                <a:solidFill>
                  <a:srgbClr val="2F3A39"/>
                </a:solidFill>
                <a:latin typeface="Georgia"/>
              </a:rPr>
              <a:t>is no longer a luxury.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